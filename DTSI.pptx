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16"/>
  </p:notesMasterIdLst>
  <p:sldIdLst>
    <p:sldId id="257" r:id="rId2"/>
    <p:sldId id="258" r:id="rId3"/>
    <p:sldId id="265" r:id="rId4"/>
    <p:sldId id="259" r:id="rId5"/>
    <p:sldId id="267" r:id="rId6"/>
    <p:sldId id="260" r:id="rId7"/>
    <p:sldId id="271" r:id="rId8"/>
    <p:sldId id="273" r:id="rId9"/>
    <p:sldId id="274" r:id="rId10"/>
    <p:sldId id="261" r:id="rId11"/>
    <p:sldId id="269" r:id="rId12"/>
    <p:sldId id="262" r:id="rId13"/>
    <p:sldId id="263" r:id="rId14"/>
    <p:sldId id="264"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106"/>
      </p:cViewPr>
      <p:guideLst/>
    </p:cSldViewPr>
  </p:slideViewPr>
  <p:notesTextViewPr>
    <p:cViewPr>
      <p:scale>
        <a:sx n="1" d="1"/>
        <a:sy n="1" d="1"/>
      </p:scale>
      <p:origin x="0" y="0"/>
    </p:cViewPr>
  </p:notesTextViewPr>
  <p:sorterViewPr>
    <p:cViewPr>
      <p:scale>
        <a:sx n="100" d="100"/>
        <a:sy n="100" d="100"/>
      </p:scale>
      <p:origin x="0" y="-13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3B404-6457-4B1A-A502-34806445CE65}" type="datetimeFigureOut">
              <a:rPr lang="en-IN" smtClean="0"/>
              <a:t>16-03-2023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C703EF-F760-420B-8245-3DD5D608EE88}" type="slidenum">
              <a:rPr lang="en-IN" smtClean="0"/>
              <a:t>‹#›</a:t>
            </a:fld>
            <a:endParaRPr lang="en-IN"/>
          </a:p>
        </p:txBody>
      </p:sp>
    </p:spTree>
    <p:extLst>
      <p:ext uri="{BB962C8B-B14F-4D97-AF65-F5344CB8AC3E}">
        <p14:creationId xmlns:p14="http://schemas.microsoft.com/office/powerpoint/2010/main" val="3004011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C703EF-F760-420B-8245-3DD5D608EE88}" type="slidenum">
              <a:rPr lang="en-IN" smtClean="0"/>
              <a:t>3</a:t>
            </a:fld>
            <a:endParaRPr lang="en-IN"/>
          </a:p>
        </p:txBody>
      </p:sp>
    </p:spTree>
    <p:extLst>
      <p:ext uri="{BB962C8B-B14F-4D97-AF65-F5344CB8AC3E}">
        <p14:creationId xmlns:p14="http://schemas.microsoft.com/office/powerpoint/2010/main" val="2921491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r>
              <a:rPr lang="en-US"/>
              <a:t>Click to edit Master title style</a:t>
            </a:r>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547930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r>
              <a:rPr lang="en-US"/>
              <a:t>Click to edit Master title style</a:t>
            </a:r>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r>
              <a:rPr lang="en-US"/>
              <a:t>Click to edit Master subtitle style</a:t>
            </a:r>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570361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 name="Google Shape;24;p5"/>
          <p:cNvSpPr/>
          <p:nvPr/>
        </p:nvSpPr>
        <p:spPr>
          <a:xfrm rot="5400000">
            <a:off x="-133800" y="363115"/>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5" name="Google Shape;25;p5"/>
          <p:cNvSpPr txBox="1">
            <a:spLocks noGrp="1"/>
          </p:cNvSpPr>
          <p:nvPr>
            <p:ph type="title"/>
          </p:nvPr>
        </p:nvSpPr>
        <p:spPr>
          <a:xfrm>
            <a:off x="447867" y="216599"/>
            <a:ext cx="11446933" cy="624800"/>
          </a:xfrm>
          <a:prstGeom prst="rect">
            <a:avLst/>
          </a:prstGeom>
        </p:spPr>
        <p:txBody>
          <a:bodyPr spcFirstLastPara="1" wrap="square" lIns="0" tIns="0" rIns="0" bIns="0" anchor="t" anchorCtr="0">
            <a:noAutofit/>
          </a:bodyPr>
          <a:lstStyle>
            <a:lvl1pPr lvl="0">
              <a:spcBef>
                <a:spcPts val="0"/>
              </a:spcBef>
              <a:spcAft>
                <a:spcPts val="0"/>
              </a:spcAft>
              <a:buSzPts val="4800"/>
              <a:buNone/>
              <a:defRPr sz="5333">
                <a:latin typeface="Calibri" panose="020F0502020204030204" pitchFamily="34" charset="0"/>
                <a:cs typeface="Calibri" panose="020F0502020204030204" pitchFamily="34" charset="0"/>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dirty="0"/>
          </a:p>
        </p:txBody>
      </p:sp>
      <p:sp>
        <p:nvSpPr>
          <p:cNvPr id="26" name="Google Shape;26;p5"/>
          <p:cNvSpPr txBox="1">
            <a:spLocks noGrp="1"/>
          </p:cNvSpPr>
          <p:nvPr>
            <p:ph type="body" idx="1"/>
          </p:nvPr>
        </p:nvSpPr>
        <p:spPr>
          <a:xfrm>
            <a:off x="483810" y="957942"/>
            <a:ext cx="11446933" cy="5583163"/>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667">
                <a:latin typeface="Calibri" panose="020F0502020204030204" pitchFamily="34" charset="0"/>
                <a:cs typeface="Calibri" panose="020F0502020204030204" pitchFamily="34" charset="0"/>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a:t>Click to edit Master text styles</a:t>
            </a: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5E75F1E-C89C-4D8B-A426-441E0A566571}" type="slidenum">
              <a:rPr lang="en-IN" smtClean="0"/>
              <a:t>‹#›</a:t>
            </a:fld>
            <a:endParaRPr lang="en-IN"/>
          </a:p>
        </p:txBody>
      </p:sp>
      <p:cxnSp>
        <p:nvCxnSpPr>
          <p:cNvPr id="3" name="Straight Connector 2">
            <a:extLst>
              <a:ext uri="{FF2B5EF4-FFF2-40B4-BE49-F238E27FC236}">
                <a16:creationId xmlns:a16="http://schemas.microsoft.com/office/drawing/2014/main" id="{2146BF3D-BDAB-0DDA-657C-DBCAA99909F3}"/>
              </a:ext>
            </a:extLst>
          </p:cNvPr>
          <p:cNvCxnSpPr/>
          <p:nvPr/>
        </p:nvCxnSpPr>
        <p:spPr>
          <a:xfrm flipV="1">
            <a:off x="447867" y="860751"/>
            <a:ext cx="11446933" cy="12716"/>
          </a:xfrm>
          <a:prstGeom prst="line">
            <a:avLst/>
          </a:prstGeom>
          <a:ln w="127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59437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5E75F1E-C89C-4D8B-A426-441E0A566571}" type="slidenum">
              <a:rPr lang="en-IN" smtClean="0"/>
              <a:t>‹#›</a:t>
            </a:fld>
            <a:endParaRPr lang="en-IN"/>
          </a:p>
        </p:txBody>
      </p:sp>
    </p:spTree>
    <p:extLst>
      <p:ext uri="{BB962C8B-B14F-4D97-AF65-F5344CB8AC3E}">
        <p14:creationId xmlns:p14="http://schemas.microsoft.com/office/powerpoint/2010/main" val="13314000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fld id="{25E75F1E-C89C-4D8B-A426-441E0A566571}" type="slidenum">
              <a:rPr lang="en-IN" smtClean="0"/>
              <a:t>‹#›</a:t>
            </a:fld>
            <a:endParaRPr lang="en-IN"/>
          </a:p>
        </p:txBody>
      </p:sp>
    </p:spTree>
    <p:extLst>
      <p:ext uri="{BB962C8B-B14F-4D97-AF65-F5344CB8AC3E}">
        <p14:creationId xmlns:p14="http://schemas.microsoft.com/office/powerpoint/2010/main" val="770232649"/>
      </p:ext>
    </p:extLst>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2" r:id="rId4"/>
  </p:sldLayoutIdLst>
  <p:transition>
    <p:fade thruBlk="1"/>
  </p:transition>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92C0-4F27-ED7F-108B-780E0F60C184}"/>
              </a:ext>
            </a:extLst>
          </p:cNvPr>
          <p:cNvSpPr>
            <a:spLocks noGrp="1"/>
          </p:cNvSpPr>
          <p:nvPr>
            <p:ph type="ctrTitle"/>
          </p:nvPr>
        </p:nvSpPr>
        <p:spPr>
          <a:xfrm>
            <a:off x="1435098" y="1417913"/>
            <a:ext cx="9876747" cy="2250040"/>
          </a:xfrm>
        </p:spPr>
        <p:txBody>
          <a:bodyPr/>
          <a:lstStyle/>
          <a:p>
            <a:pPr algn="ctr"/>
            <a:r>
              <a:rPr lang="en-US" dirty="0">
                <a:solidFill>
                  <a:srgbClr val="FF0000"/>
                </a:solidFill>
                <a:latin typeface="Calibri" panose="020F0502020204030204" pitchFamily="34" charset="0"/>
                <a:cs typeface="Calibri" panose="020F0502020204030204" pitchFamily="34" charset="0"/>
              </a:rPr>
              <a:t>PEAK HOUR RUSH</a:t>
            </a:r>
            <a:br>
              <a:rPr lang="en-US" dirty="0">
                <a:solidFill>
                  <a:srgbClr val="FF0000"/>
                </a:solidFill>
                <a:latin typeface="Calibri" panose="020F0502020204030204" pitchFamily="34" charset="0"/>
                <a:cs typeface="Calibri" panose="020F0502020204030204" pitchFamily="34" charset="0"/>
              </a:rPr>
            </a:br>
            <a:r>
              <a:rPr lang="en-US" sz="4800" dirty="0">
                <a:latin typeface="Calibri" panose="020F0502020204030204" pitchFamily="34" charset="0"/>
                <a:cs typeface="Calibri" panose="020F0502020204030204" pitchFamily="34" charset="0"/>
              </a:rPr>
              <a:t>Design Thinking for Social Innovation Course Project</a:t>
            </a:r>
            <a:endParaRPr lang="en-IN" dirty="0">
              <a:latin typeface="Calibri" panose="020F0502020204030204" pitchFamily="34" charset="0"/>
              <a:cs typeface="Calibri" panose="020F0502020204030204" pitchFamily="34" charset="0"/>
            </a:endParaRPr>
          </a:p>
        </p:txBody>
      </p:sp>
      <p:pic>
        <p:nvPicPr>
          <p:cNvPr id="3" name="Picture 2" descr="kle tech logo">
            <a:extLst>
              <a:ext uri="{FF2B5EF4-FFF2-40B4-BE49-F238E27FC236}">
                <a16:creationId xmlns:a16="http://schemas.microsoft.com/office/drawing/2014/main" id="{B405F6F9-90CE-5FE5-067B-97C779FFD3BF}"/>
              </a:ext>
            </a:extLst>
          </p:cNvPr>
          <p:cNvPicPr/>
          <p:nvPr/>
        </p:nvPicPr>
        <p:blipFill>
          <a:blip r:embed="rId2" cstate="print"/>
          <a:srcRect/>
          <a:stretch>
            <a:fillRect/>
          </a:stretch>
        </p:blipFill>
        <p:spPr bwMode="auto">
          <a:xfrm>
            <a:off x="3910837" y="110529"/>
            <a:ext cx="4085302" cy="1143000"/>
          </a:xfrm>
          <a:prstGeom prst="rect">
            <a:avLst/>
          </a:prstGeom>
          <a:noFill/>
          <a:ln w="9525">
            <a:noFill/>
            <a:miter lim="800000"/>
            <a:headEnd/>
            <a:tailEnd/>
          </a:ln>
        </p:spPr>
      </p:pic>
      <p:graphicFrame>
        <p:nvGraphicFramePr>
          <p:cNvPr id="5" name="Table 5">
            <a:extLst>
              <a:ext uri="{FF2B5EF4-FFF2-40B4-BE49-F238E27FC236}">
                <a16:creationId xmlns:a16="http://schemas.microsoft.com/office/drawing/2014/main" id="{4EDE8907-5DB7-C240-1EAC-B929097A1059}"/>
              </a:ext>
            </a:extLst>
          </p:cNvPr>
          <p:cNvGraphicFramePr>
            <a:graphicFrameLocks noGrp="1"/>
          </p:cNvGraphicFramePr>
          <p:nvPr>
            <p:extLst>
              <p:ext uri="{D42A27DB-BD31-4B8C-83A1-F6EECF244321}">
                <p14:modId xmlns:p14="http://schemas.microsoft.com/office/powerpoint/2010/main" val="1959667362"/>
              </p:ext>
            </p:extLst>
          </p:nvPr>
        </p:nvGraphicFramePr>
        <p:xfrm>
          <a:off x="2309471" y="3579840"/>
          <a:ext cx="8128000" cy="18799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703790136"/>
                    </a:ext>
                  </a:extLst>
                </a:gridCol>
                <a:gridCol w="4064000">
                  <a:extLst>
                    <a:ext uri="{9D8B030D-6E8A-4147-A177-3AD203B41FA5}">
                      <a16:colId xmlns:a16="http://schemas.microsoft.com/office/drawing/2014/main" val="2098371283"/>
                    </a:ext>
                  </a:extLst>
                </a:gridCol>
              </a:tblGrid>
              <a:tr h="370840">
                <a:tc>
                  <a:txBody>
                    <a:bodyPr/>
                    <a:lstStyle/>
                    <a:p>
                      <a:pPr algn="ctr"/>
                      <a:r>
                        <a:rPr lang="en-US" dirty="0">
                          <a:solidFill>
                            <a:srgbClr val="FF0000"/>
                          </a:solidFill>
                          <a:latin typeface="Calibri" panose="020F0502020204030204" pitchFamily="34" charset="0"/>
                          <a:cs typeface="Calibri" panose="020F0502020204030204" pitchFamily="34" charset="0"/>
                        </a:rPr>
                        <a:t>GOUTAMI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rgbClr val="FF0000"/>
                          </a:solidFill>
                          <a:latin typeface="Calibri" panose="020F0502020204030204" pitchFamily="34" charset="0"/>
                          <a:cs typeface="Calibri" panose="020F0502020204030204" pitchFamily="34" charset="0"/>
                        </a:rPr>
                        <a:t> 1357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5737551"/>
                  </a:ext>
                </a:extLst>
              </a:tr>
              <a:tr h="370840">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SOHAIL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1340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1986398"/>
                  </a:ext>
                </a:extLst>
              </a:tr>
              <a:tr h="370840">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HARSH</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1348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0559611"/>
                  </a:ext>
                </a:extLst>
              </a:tr>
              <a:tr h="370840">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RAKSHITHA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1368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09767664"/>
                  </a:ext>
                </a:extLst>
              </a:tr>
              <a:tr h="370840">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SHREYA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R="0" algn="ctr" rtl="0" eaLnBrk="1" hangingPunct="1">
                        <a:lnSpc>
                          <a:spcPct val="100000"/>
                        </a:lnSpc>
                        <a:spcBef>
                          <a:spcPts val="0"/>
                        </a:spcBef>
                        <a:spcAft>
                          <a:spcPts val="0"/>
                        </a:spcAft>
                        <a:buClr>
                          <a:srgbClr val="000000"/>
                        </a:buClr>
                        <a:buFont typeface="Arial"/>
                      </a:pPr>
                      <a:r>
                        <a:rPr lang="en-US" sz="1867" b="0" i="0" u="none" strike="noStrike" cap="none" dirty="0">
                          <a:solidFill>
                            <a:srgbClr val="FF0000"/>
                          </a:solidFill>
                          <a:latin typeface="Calibri" panose="020F0502020204030204" pitchFamily="34" charset="0"/>
                          <a:ea typeface="+mn-ea"/>
                          <a:cs typeface="Calibri" panose="020F0502020204030204" pitchFamily="34" charset="0"/>
                          <a:sym typeface="Arial"/>
                        </a:rPr>
                        <a:t>1365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7841500"/>
                  </a:ext>
                </a:extLst>
              </a:tr>
            </a:tbl>
          </a:graphicData>
        </a:graphic>
      </p:graphicFrame>
      <p:sp>
        <p:nvSpPr>
          <p:cNvPr id="6" name="TextBox 5">
            <a:extLst>
              <a:ext uri="{FF2B5EF4-FFF2-40B4-BE49-F238E27FC236}">
                <a16:creationId xmlns:a16="http://schemas.microsoft.com/office/drawing/2014/main" id="{4D89211A-0221-9067-42A1-1C4C6CA6A1CA}"/>
              </a:ext>
            </a:extLst>
          </p:cNvPr>
          <p:cNvSpPr txBox="1"/>
          <p:nvPr/>
        </p:nvSpPr>
        <p:spPr>
          <a:xfrm>
            <a:off x="2541141" y="5446275"/>
            <a:ext cx="7256206" cy="666977"/>
          </a:xfrm>
          <a:prstGeom prst="rect">
            <a:avLst/>
          </a:prstGeom>
          <a:noFill/>
        </p:spPr>
        <p:txBody>
          <a:bodyPr wrap="square" rtlCol="0">
            <a:spAutoFit/>
          </a:bodyPr>
          <a:lstStyle/>
          <a:p>
            <a:pPr algn="ctr"/>
            <a:r>
              <a:rPr lang="en-US" sz="1867" dirty="0">
                <a:solidFill>
                  <a:schemeClr val="tx1"/>
                </a:solidFill>
                <a:latin typeface="Calibri" panose="020F0502020204030204" pitchFamily="34" charset="0"/>
                <a:ea typeface="+mn-ea"/>
                <a:cs typeface="Calibri" panose="020F0502020204030204" pitchFamily="34" charset="0"/>
              </a:rPr>
              <a:t>Under the guidance of </a:t>
            </a:r>
            <a:endParaRPr lang="en-US" sz="1867" dirty="0">
              <a:solidFill>
                <a:srgbClr val="FF0000"/>
              </a:solidFill>
              <a:latin typeface="Calibri" panose="020F0502020204030204" pitchFamily="34" charset="0"/>
              <a:ea typeface="+mn-ea"/>
              <a:cs typeface="Calibri" panose="020F0502020204030204" pitchFamily="34" charset="0"/>
            </a:endParaRPr>
          </a:p>
          <a:p>
            <a:pPr algn="ctr"/>
            <a:r>
              <a:rPr lang="en-US" sz="1867" dirty="0">
                <a:solidFill>
                  <a:srgbClr val="FF0000"/>
                </a:solidFill>
                <a:latin typeface="Calibri" panose="020F0502020204030204" pitchFamily="34" charset="0"/>
                <a:ea typeface="+mn-ea"/>
                <a:cs typeface="Calibri" panose="020F0502020204030204" pitchFamily="34" charset="0"/>
              </a:rPr>
              <a:t>Manjunath Gowda Patil Sir</a:t>
            </a:r>
            <a:endParaRPr lang="en-US" sz="1867" dirty="0">
              <a:solidFill>
                <a:schemeClr val="tx1"/>
              </a:solidFill>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F4126E2E-27AC-4344-D9F1-95E3A1B4F617}"/>
              </a:ext>
            </a:extLst>
          </p:cNvPr>
          <p:cNvSpPr txBox="1"/>
          <p:nvPr/>
        </p:nvSpPr>
        <p:spPr>
          <a:xfrm>
            <a:off x="3064709" y="6211669"/>
            <a:ext cx="6209071" cy="523220"/>
          </a:xfrm>
          <a:prstGeom prst="rect">
            <a:avLst/>
          </a:prstGeom>
          <a:noFill/>
        </p:spPr>
        <p:txBody>
          <a:bodyPr wrap="square" rtlCol="0">
            <a:spAutoFit/>
          </a:bodyPr>
          <a:lstStyle/>
          <a:p>
            <a:pPr algn="ctr"/>
            <a:r>
              <a:rPr lang="en-US" dirty="0"/>
              <a:t>2022-2023, Odd Semester</a:t>
            </a:r>
          </a:p>
          <a:p>
            <a:pPr algn="ctr"/>
            <a:r>
              <a:rPr lang="en-US" dirty="0"/>
              <a:t>CEER, KLE Technological University, Hubballi</a:t>
            </a:r>
          </a:p>
        </p:txBody>
      </p:sp>
    </p:spTree>
    <p:extLst>
      <p:ext uri="{BB962C8B-B14F-4D97-AF65-F5344CB8AC3E}">
        <p14:creationId xmlns:p14="http://schemas.microsoft.com/office/powerpoint/2010/main" val="3615973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Empathy</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r>
              <a:rPr lang="en-US" sz="2800" dirty="0">
                <a:solidFill>
                  <a:srgbClr val="FF0000"/>
                </a:solidFill>
              </a:rPr>
              <a:t>WASTAGE OF PAPER TICKETS</a:t>
            </a:r>
          </a:p>
          <a:p>
            <a:r>
              <a:rPr lang="en-US" sz="2800" dirty="0">
                <a:solidFill>
                  <a:srgbClr val="FF0000"/>
                </a:solidFill>
              </a:rPr>
              <a:t>PEAK HOUR RUSH</a:t>
            </a:r>
          </a:p>
          <a:p>
            <a:r>
              <a:rPr lang="en-US" sz="2800" dirty="0">
                <a:solidFill>
                  <a:srgbClr val="FF0000"/>
                </a:solidFill>
              </a:rPr>
              <a:t>FAILURE IN MAINTAINENECE IN THE SYSTEM</a:t>
            </a:r>
          </a:p>
          <a:p>
            <a:r>
              <a:rPr lang="en-US" sz="2800" dirty="0">
                <a:solidFill>
                  <a:srgbClr val="FF0000"/>
                </a:solidFill>
              </a:rPr>
              <a:t>UPI DIGITALISATION</a:t>
            </a:r>
          </a:p>
          <a:p>
            <a:r>
              <a:rPr lang="en-US" sz="2800" dirty="0">
                <a:solidFill>
                  <a:srgbClr val="FF0000"/>
                </a:solidFill>
              </a:rPr>
              <a:t>ISSUE RELATED TO TICKETS</a:t>
            </a:r>
            <a:endParaRPr lang="en-IN" dirty="0"/>
          </a:p>
        </p:txBody>
      </p:sp>
    </p:spTree>
    <p:extLst>
      <p:ext uri="{BB962C8B-B14F-4D97-AF65-F5344CB8AC3E}">
        <p14:creationId xmlns:p14="http://schemas.microsoft.com/office/powerpoint/2010/main" val="3663108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B3FB345-CB91-DE3B-FF8A-7FFEC9C2BEA2}"/>
              </a:ext>
            </a:extLst>
          </p:cNvPr>
          <p:cNvGrpSpPr/>
          <p:nvPr/>
        </p:nvGrpSpPr>
        <p:grpSpPr>
          <a:xfrm>
            <a:off x="108251" y="0"/>
            <a:ext cx="2511659" cy="2835667"/>
            <a:chOff x="272638" y="0"/>
            <a:chExt cx="2532206" cy="2951444"/>
          </a:xfrm>
        </p:grpSpPr>
        <p:grpSp>
          <p:nvGrpSpPr>
            <p:cNvPr id="4" name="Group 3">
              <a:extLst>
                <a:ext uri="{FF2B5EF4-FFF2-40B4-BE49-F238E27FC236}">
                  <a16:creationId xmlns:a16="http://schemas.microsoft.com/office/drawing/2014/main" id="{154862D3-0667-B33C-505C-4F9914E119EB}"/>
                </a:ext>
              </a:extLst>
            </p:cNvPr>
            <p:cNvGrpSpPr/>
            <p:nvPr/>
          </p:nvGrpSpPr>
          <p:grpSpPr>
            <a:xfrm>
              <a:off x="272638" y="0"/>
              <a:ext cx="2532206" cy="2951444"/>
              <a:chOff x="1006699" y="2528711"/>
              <a:chExt cx="1749791" cy="2239007"/>
            </a:xfrm>
          </p:grpSpPr>
          <p:sp>
            <p:nvSpPr>
              <p:cNvPr id="5" name="Rectangle: Rounded Corners 4">
                <a:extLst>
                  <a:ext uri="{FF2B5EF4-FFF2-40B4-BE49-F238E27FC236}">
                    <a16:creationId xmlns:a16="http://schemas.microsoft.com/office/drawing/2014/main" id="{CCF9B0CE-BFF1-7D7E-FC43-70A523F40399}"/>
                  </a:ext>
                </a:extLst>
              </p:cNvPr>
              <p:cNvSpPr/>
              <p:nvPr/>
            </p:nvSpPr>
            <p:spPr>
              <a:xfrm>
                <a:off x="1110830" y="2623611"/>
                <a:ext cx="1420112" cy="1202141"/>
              </a:xfrm>
              <a:prstGeom prst="roundRect">
                <a:avLst>
                  <a:gd name="adj" fmla="val 12271"/>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a:extLst>
                  <a:ext uri="{FF2B5EF4-FFF2-40B4-BE49-F238E27FC236}">
                    <a16:creationId xmlns:a16="http://schemas.microsoft.com/office/drawing/2014/main" id="{E90D1DB3-1191-A22B-26A9-903CA48A8AE3}"/>
                  </a:ext>
                </a:extLst>
              </p:cNvPr>
              <p:cNvSpPr/>
              <p:nvPr/>
            </p:nvSpPr>
            <p:spPr>
              <a:xfrm flipV="1">
                <a:off x="1664759" y="3825752"/>
                <a:ext cx="231417" cy="19949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8DCF3D90-6F6A-B75A-C244-3644D2096F57}"/>
                  </a:ext>
                </a:extLst>
              </p:cNvPr>
              <p:cNvSpPr/>
              <p:nvPr/>
            </p:nvSpPr>
            <p:spPr>
              <a:xfrm>
                <a:off x="2320952" y="2528711"/>
                <a:ext cx="331408" cy="3314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1</a:t>
                </a:r>
                <a:endParaRPr lang="en-IN"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71C0A8C4-4F09-561E-FBF7-DB9BDA91BE50}"/>
                  </a:ext>
                </a:extLst>
              </p:cNvPr>
              <p:cNvGrpSpPr/>
              <p:nvPr/>
            </p:nvGrpSpPr>
            <p:grpSpPr>
              <a:xfrm>
                <a:off x="1006699" y="4181750"/>
                <a:ext cx="1749791" cy="585968"/>
                <a:chOff x="1157285" y="1813525"/>
                <a:chExt cx="1967514" cy="658880"/>
              </a:xfrm>
            </p:grpSpPr>
            <p:sp>
              <p:nvSpPr>
                <p:cNvPr id="9" name="TextBox 8">
                  <a:extLst>
                    <a:ext uri="{FF2B5EF4-FFF2-40B4-BE49-F238E27FC236}">
                      <a16:creationId xmlns:a16="http://schemas.microsoft.com/office/drawing/2014/main" id="{B82894DF-0766-B0D3-FFFB-DC41970ADCE8}"/>
                    </a:ext>
                  </a:extLst>
                </p:cNvPr>
                <p:cNvSpPr txBox="1"/>
                <p:nvPr/>
              </p:nvSpPr>
              <p:spPr>
                <a:xfrm>
                  <a:off x="1157285" y="2262376"/>
                  <a:ext cx="1967514" cy="210029"/>
                </a:xfrm>
                <a:prstGeom prst="rect">
                  <a:avLst/>
                </a:prstGeom>
                <a:noFill/>
              </p:spPr>
              <p:txBody>
                <a:bodyPr wrap="square" lIns="0" tIns="0" rIns="0" bIns="0" rtlCol="0">
                  <a:spAutoFit/>
                </a:bodyPr>
                <a:lstStyle/>
                <a:p>
                  <a:pPr algn="ctr"/>
                  <a:r>
                    <a:rPr lang="en-US" sz="1600" b="1" i="1" dirty="0">
                      <a:latin typeface="Arial" panose="020B0604020202020204" pitchFamily="34" charset="0"/>
                      <a:cs typeface="Arial" panose="020B0604020202020204" pitchFamily="34" charset="0"/>
                    </a:rPr>
                    <a:t>Research user needs</a:t>
                  </a:r>
                  <a:r>
                    <a:rPr lang="en-US" sz="1600" i="1" dirty="0">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5880CA95-E5CB-D19A-3369-8FEEA400935D}"/>
                    </a:ext>
                  </a:extLst>
                </p:cNvPr>
                <p:cNvSpPr txBox="1"/>
                <p:nvPr/>
              </p:nvSpPr>
              <p:spPr>
                <a:xfrm>
                  <a:off x="1157285" y="1813525"/>
                  <a:ext cx="1967514" cy="367550"/>
                </a:xfrm>
                <a:prstGeom prst="rect">
                  <a:avLst/>
                </a:prstGeom>
                <a:noFill/>
              </p:spPr>
              <p:txBody>
                <a:bodyPr wrap="square" lIns="0" tIns="0" rIns="0" bIns="0" rtlCol="0">
                  <a:spAutoFit/>
                </a:bodyPr>
                <a:lstStyle/>
                <a:p>
                  <a:pPr algn="ctr"/>
                  <a:r>
                    <a:rPr lang="en-US" sz="2800" b="1" dirty="0">
                      <a:solidFill>
                        <a:schemeClr val="accent1"/>
                      </a:solidFill>
                      <a:latin typeface="Arial" panose="020B0604020202020204" pitchFamily="34" charset="0"/>
                      <a:cs typeface="Arial" panose="020B0604020202020204" pitchFamily="34" charset="0"/>
                    </a:rPr>
                    <a:t>EMPATHY</a:t>
                  </a:r>
                </a:p>
              </p:txBody>
            </p:sp>
          </p:grpSp>
        </p:grpSp>
        <p:pic>
          <p:nvPicPr>
            <p:cNvPr id="11" name="Picture 10">
              <a:extLst>
                <a:ext uri="{FF2B5EF4-FFF2-40B4-BE49-F238E27FC236}">
                  <a16:creationId xmlns:a16="http://schemas.microsoft.com/office/drawing/2014/main" id="{363FA0E4-44F0-E03A-43C5-2F943FB43BC3}"/>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22747" y="357263"/>
              <a:ext cx="1220665" cy="1220665"/>
            </a:xfrm>
            <a:prstGeom prst="rect">
              <a:avLst/>
            </a:prstGeom>
          </p:spPr>
        </p:pic>
      </p:grpSp>
      <p:pic>
        <p:nvPicPr>
          <p:cNvPr id="2" name="Picture 1">
            <a:extLst>
              <a:ext uri="{FF2B5EF4-FFF2-40B4-BE49-F238E27FC236}">
                <a16:creationId xmlns:a16="http://schemas.microsoft.com/office/drawing/2014/main" id="{28B37A19-59D2-182A-FCE4-0E23E0BD70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00208" y="282188"/>
            <a:ext cx="2406967" cy="3209290"/>
          </a:xfrm>
          <a:prstGeom prst="rect">
            <a:avLst/>
          </a:prstGeom>
        </p:spPr>
      </p:pic>
      <p:pic>
        <p:nvPicPr>
          <p:cNvPr id="14" name="Picture 13">
            <a:extLst>
              <a:ext uri="{FF2B5EF4-FFF2-40B4-BE49-F238E27FC236}">
                <a16:creationId xmlns:a16="http://schemas.microsoft.com/office/drawing/2014/main" id="{6072435C-1D92-FACD-015F-9E62A1C456B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8308" y="3049970"/>
            <a:ext cx="2720653" cy="3627538"/>
          </a:xfrm>
          <a:prstGeom prst="rect">
            <a:avLst/>
          </a:prstGeom>
        </p:spPr>
      </p:pic>
      <p:pic>
        <p:nvPicPr>
          <p:cNvPr id="16" name="Picture 15">
            <a:extLst>
              <a:ext uri="{FF2B5EF4-FFF2-40B4-BE49-F238E27FC236}">
                <a16:creationId xmlns:a16="http://schemas.microsoft.com/office/drawing/2014/main" id="{E5456C34-F665-FAD9-FC64-F240F256AA2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2027" y="282188"/>
            <a:ext cx="1892298" cy="2523064"/>
          </a:xfrm>
          <a:prstGeom prst="rect">
            <a:avLst/>
          </a:prstGeom>
        </p:spPr>
      </p:pic>
      <p:sp>
        <p:nvSpPr>
          <p:cNvPr id="12" name="TextBox 11">
            <a:extLst>
              <a:ext uri="{FF2B5EF4-FFF2-40B4-BE49-F238E27FC236}">
                <a16:creationId xmlns:a16="http://schemas.microsoft.com/office/drawing/2014/main" id="{C28A78F0-B207-B118-9EA3-BC3DD2A0B8DF}"/>
              </a:ext>
            </a:extLst>
          </p:cNvPr>
          <p:cNvSpPr txBox="1"/>
          <p:nvPr/>
        </p:nvSpPr>
        <p:spPr>
          <a:xfrm>
            <a:off x="5185211" y="1774152"/>
            <a:ext cx="1566129" cy="584775"/>
          </a:xfrm>
          <a:prstGeom prst="rect">
            <a:avLst/>
          </a:prstGeom>
          <a:noFill/>
        </p:spPr>
        <p:txBody>
          <a:bodyPr wrap="square" rtlCol="0">
            <a:spAutoFit/>
          </a:bodyPr>
          <a:lstStyle/>
          <a:p>
            <a:r>
              <a:rPr lang="en-US" sz="1600" b="1" dirty="0"/>
              <a:t>Que near the ticket counter</a:t>
            </a:r>
            <a:endParaRPr lang="en-IN" sz="1600" b="1" dirty="0"/>
          </a:p>
        </p:txBody>
      </p:sp>
      <p:sp>
        <p:nvSpPr>
          <p:cNvPr id="15" name="TextBox 14">
            <a:extLst>
              <a:ext uri="{FF2B5EF4-FFF2-40B4-BE49-F238E27FC236}">
                <a16:creationId xmlns:a16="http://schemas.microsoft.com/office/drawing/2014/main" id="{EF0EAE5A-4A19-73B1-5382-153C9452FEF2}"/>
              </a:ext>
            </a:extLst>
          </p:cNvPr>
          <p:cNvSpPr txBox="1"/>
          <p:nvPr/>
        </p:nvSpPr>
        <p:spPr>
          <a:xfrm>
            <a:off x="8678866" y="3678564"/>
            <a:ext cx="2549573" cy="646331"/>
          </a:xfrm>
          <a:prstGeom prst="rect">
            <a:avLst/>
          </a:prstGeom>
          <a:noFill/>
        </p:spPr>
        <p:txBody>
          <a:bodyPr wrap="square" rtlCol="0">
            <a:spAutoFit/>
          </a:bodyPr>
          <a:lstStyle/>
          <a:p>
            <a:r>
              <a:rPr lang="en-US" sz="1800" b="1" dirty="0"/>
              <a:t>Wastage of the paper tickets</a:t>
            </a:r>
            <a:endParaRPr lang="en-IN" sz="1800" b="1" dirty="0"/>
          </a:p>
        </p:txBody>
      </p:sp>
      <p:sp>
        <p:nvSpPr>
          <p:cNvPr id="17" name="TextBox 16">
            <a:extLst>
              <a:ext uri="{FF2B5EF4-FFF2-40B4-BE49-F238E27FC236}">
                <a16:creationId xmlns:a16="http://schemas.microsoft.com/office/drawing/2014/main" id="{818C114C-9E6C-CDA6-E4C4-2D87747B5122}"/>
              </a:ext>
            </a:extLst>
          </p:cNvPr>
          <p:cNvSpPr txBox="1"/>
          <p:nvPr/>
        </p:nvSpPr>
        <p:spPr>
          <a:xfrm>
            <a:off x="5185211" y="5083278"/>
            <a:ext cx="2720653" cy="646331"/>
          </a:xfrm>
          <a:prstGeom prst="rect">
            <a:avLst/>
          </a:prstGeom>
          <a:noFill/>
        </p:spPr>
        <p:txBody>
          <a:bodyPr wrap="square" rtlCol="0">
            <a:spAutoFit/>
          </a:bodyPr>
          <a:lstStyle/>
          <a:p>
            <a:r>
              <a:rPr lang="en-US" sz="1800" b="1" dirty="0"/>
              <a:t>Lack of maintenance in the station</a:t>
            </a:r>
            <a:endParaRPr lang="en-IN" sz="1800" b="1" dirty="0"/>
          </a:p>
        </p:txBody>
      </p:sp>
    </p:spTree>
    <p:extLst>
      <p:ext uri="{BB962C8B-B14F-4D97-AF65-F5344CB8AC3E}">
        <p14:creationId xmlns:p14="http://schemas.microsoft.com/office/powerpoint/2010/main" val="3774557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Define</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pPr marL="152396" indent="0">
              <a:buNone/>
            </a:pPr>
            <a:r>
              <a:rPr lang="en-US" sz="3200" b="0" i="0" dirty="0">
                <a:solidFill>
                  <a:srgbClr val="2F5496"/>
                </a:solidFill>
                <a:effectLst/>
                <a:latin typeface="docs-Calibri"/>
              </a:rPr>
              <a:t>USERS OF BRTS NEED TO PROPER FOLLOW PROPER RULES AND SAFETY MEASURES AT BUS STOPS TO ACCESS FACILITIES PROVIDED BY BRTS AND REACH THEIR DESTINATION ON TIME.HOWEVER DUE TO PEAK HOUR RUSH AND NO PROPER RULES AND REGULATION LEADS TO OVERCROWDING AT BUS STOPS AND BUSES WHICH MAY LEAD TO ACCIDENTS PUSHING AND PULLING INSIDE BUS MAY ALSO HARM PEOPLE IF PROPER MEASURES ARE TAKEN THIS CAN BE AVOIDED.</a:t>
            </a:r>
            <a:endParaRPr lang="en-US" sz="4000" dirty="0">
              <a:solidFill>
                <a:srgbClr val="FF0000"/>
              </a:solidFill>
            </a:endParaRPr>
          </a:p>
          <a:p>
            <a:endParaRPr lang="en-IN" sz="3600" dirty="0"/>
          </a:p>
        </p:txBody>
      </p:sp>
    </p:spTree>
    <p:extLst>
      <p:ext uri="{BB962C8B-B14F-4D97-AF65-F5344CB8AC3E}">
        <p14:creationId xmlns:p14="http://schemas.microsoft.com/office/powerpoint/2010/main" val="3887085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A198E03-9FB3-2C35-E604-A2AD6C985971}"/>
              </a:ext>
            </a:extLst>
          </p:cNvPr>
          <p:cNvGrpSpPr/>
          <p:nvPr/>
        </p:nvGrpSpPr>
        <p:grpSpPr>
          <a:xfrm>
            <a:off x="245817" y="158113"/>
            <a:ext cx="2435737" cy="3078628"/>
            <a:chOff x="2855453" y="1642682"/>
            <a:chExt cx="2435737" cy="3078628"/>
          </a:xfrm>
        </p:grpSpPr>
        <p:grpSp>
          <p:nvGrpSpPr>
            <p:cNvPr id="29" name="Group 28">
              <a:extLst>
                <a:ext uri="{FF2B5EF4-FFF2-40B4-BE49-F238E27FC236}">
                  <a16:creationId xmlns:a16="http://schemas.microsoft.com/office/drawing/2014/main" id="{C0EA954A-2C27-253C-D746-E7C56CA28044}"/>
                </a:ext>
              </a:extLst>
            </p:cNvPr>
            <p:cNvGrpSpPr/>
            <p:nvPr/>
          </p:nvGrpSpPr>
          <p:grpSpPr>
            <a:xfrm>
              <a:off x="2855453" y="1642682"/>
              <a:ext cx="2435737" cy="3078628"/>
              <a:chOff x="3418711" y="2528711"/>
              <a:chExt cx="1749792" cy="2381972"/>
            </a:xfrm>
          </p:grpSpPr>
          <p:sp>
            <p:nvSpPr>
              <p:cNvPr id="30" name="Rectangle: Rounded Corners 29">
                <a:extLst>
                  <a:ext uri="{FF2B5EF4-FFF2-40B4-BE49-F238E27FC236}">
                    <a16:creationId xmlns:a16="http://schemas.microsoft.com/office/drawing/2014/main" id="{F2D935AE-64C9-E2F3-83AE-B967EC444ECC}"/>
                  </a:ext>
                </a:extLst>
              </p:cNvPr>
              <p:cNvSpPr/>
              <p:nvPr/>
            </p:nvSpPr>
            <p:spPr>
              <a:xfrm>
                <a:off x="3544983" y="2623611"/>
                <a:ext cx="1420112" cy="1202141"/>
              </a:xfrm>
              <a:prstGeom prst="roundRect">
                <a:avLst>
                  <a:gd name="adj" fmla="val 12271"/>
                </a:avLst>
              </a:prstGeom>
              <a:solidFill>
                <a:schemeClr val="bg1"/>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Isosceles Triangle 30">
                <a:extLst>
                  <a:ext uri="{FF2B5EF4-FFF2-40B4-BE49-F238E27FC236}">
                    <a16:creationId xmlns:a16="http://schemas.microsoft.com/office/drawing/2014/main" id="{09C3AE4F-A994-0CA7-DFDD-22077A5E161B}"/>
                  </a:ext>
                </a:extLst>
              </p:cNvPr>
              <p:cNvSpPr/>
              <p:nvPr/>
            </p:nvSpPr>
            <p:spPr>
              <a:xfrm flipV="1">
                <a:off x="4098911" y="3825752"/>
                <a:ext cx="231417" cy="19949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F95A1765-EB5B-9E4B-60BC-82613C50EF65}"/>
                  </a:ext>
                </a:extLst>
              </p:cNvPr>
              <p:cNvSpPr/>
              <p:nvPr/>
            </p:nvSpPr>
            <p:spPr>
              <a:xfrm>
                <a:off x="4755104" y="2528711"/>
                <a:ext cx="331408" cy="3314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2</a:t>
                </a:r>
                <a:endParaRPr lang="en-IN" dirty="0">
                  <a:latin typeface="Arial" panose="020B0604020202020204" pitchFamily="34" charset="0"/>
                  <a:cs typeface="Arial" panose="020B0604020202020204" pitchFamily="34" charset="0"/>
                </a:endParaRPr>
              </a:p>
            </p:txBody>
          </p:sp>
          <p:grpSp>
            <p:nvGrpSpPr>
              <p:cNvPr id="33" name="Group 32">
                <a:extLst>
                  <a:ext uri="{FF2B5EF4-FFF2-40B4-BE49-F238E27FC236}">
                    <a16:creationId xmlns:a16="http://schemas.microsoft.com/office/drawing/2014/main" id="{35883F0C-941C-0C43-A0E5-C2D27E94F877}"/>
                  </a:ext>
                </a:extLst>
              </p:cNvPr>
              <p:cNvGrpSpPr/>
              <p:nvPr/>
            </p:nvGrpSpPr>
            <p:grpSpPr>
              <a:xfrm>
                <a:off x="3418711" y="4091217"/>
                <a:ext cx="1749792" cy="819466"/>
                <a:chOff x="1132388" y="1711717"/>
                <a:chExt cx="1967514" cy="921427"/>
              </a:xfrm>
            </p:grpSpPr>
            <p:sp>
              <p:nvSpPr>
                <p:cNvPr id="34" name="TextBox 33">
                  <a:extLst>
                    <a:ext uri="{FF2B5EF4-FFF2-40B4-BE49-F238E27FC236}">
                      <a16:creationId xmlns:a16="http://schemas.microsoft.com/office/drawing/2014/main" id="{660B06E8-6A8C-5B78-DA0B-AB6623A0D772}"/>
                    </a:ext>
                  </a:extLst>
                </p:cNvPr>
                <p:cNvSpPr txBox="1"/>
                <p:nvPr/>
              </p:nvSpPr>
              <p:spPr>
                <a:xfrm>
                  <a:off x="1132388" y="2079427"/>
                  <a:ext cx="1967514" cy="553717"/>
                </a:xfrm>
                <a:prstGeom prst="rect">
                  <a:avLst/>
                </a:prstGeom>
                <a:noFill/>
              </p:spPr>
              <p:txBody>
                <a:bodyPr wrap="square" lIns="0" tIns="0" rIns="0" bIns="0" rtlCol="0">
                  <a:spAutoFit/>
                </a:bodyPr>
                <a:lstStyle/>
                <a:p>
                  <a:pPr algn="ctr"/>
                  <a:r>
                    <a:rPr lang="en-US" sz="1600" b="1" i="1" dirty="0">
                      <a:latin typeface="Arial" panose="020B0604020202020204" pitchFamily="34" charset="0"/>
                      <a:cs typeface="Arial" panose="020B0604020202020204" pitchFamily="34" charset="0"/>
                    </a:rPr>
                    <a:t>Articulate the problem</a:t>
                  </a:r>
                  <a:r>
                    <a:rPr lang="en-US" sz="1400" b="1" dirty="0">
                      <a:latin typeface="Arial" panose="020B0604020202020204" pitchFamily="34" charset="0"/>
                      <a:cs typeface="Arial" panose="020B0604020202020204" pitchFamily="34" charset="0"/>
                    </a:rPr>
                    <a:t>. </a:t>
                  </a:r>
                </a:p>
              </p:txBody>
            </p:sp>
            <p:sp>
              <p:nvSpPr>
                <p:cNvPr id="35" name="TextBox 34">
                  <a:extLst>
                    <a:ext uri="{FF2B5EF4-FFF2-40B4-BE49-F238E27FC236}">
                      <a16:creationId xmlns:a16="http://schemas.microsoft.com/office/drawing/2014/main" id="{BFC8D2F0-A6CA-A2A2-CD23-553B7BF9B17E}"/>
                    </a:ext>
                  </a:extLst>
                </p:cNvPr>
                <p:cNvSpPr txBox="1"/>
                <p:nvPr/>
              </p:nvSpPr>
              <p:spPr>
                <a:xfrm>
                  <a:off x="1132388" y="1711717"/>
                  <a:ext cx="1967514" cy="484501"/>
                </a:xfrm>
                <a:prstGeom prst="rect">
                  <a:avLst/>
                </a:prstGeom>
                <a:noFill/>
              </p:spPr>
              <p:txBody>
                <a:bodyPr wrap="square" lIns="0" tIns="0" rIns="0" bIns="0" rtlCol="0">
                  <a:spAutoFit/>
                </a:bodyPr>
                <a:lstStyle/>
                <a:p>
                  <a:pPr algn="ctr"/>
                  <a:r>
                    <a:rPr lang="en-US" sz="2800" b="1" dirty="0">
                      <a:solidFill>
                        <a:schemeClr val="accent2"/>
                      </a:solidFill>
                      <a:latin typeface="Arial" panose="020B0604020202020204" pitchFamily="34" charset="0"/>
                      <a:cs typeface="Arial" panose="020B0604020202020204" pitchFamily="34" charset="0"/>
                    </a:rPr>
                    <a:t>DEFINE</a:t>
                  </a:r>
                  <a:endParaRPr lang="en-US" sz="1400" b="1" dirty="0">
                    <a:solidFill>
                      <a:schemeClr val="accent2"/>
                    </a:solidFill>
                    <a:latin typeface="Arial" panose="020B0604020202020204" pitchFamily="34" charset="0"/>
                    <a:cs typeface="Arial" panose="020B0604020202020204" pitchFamily="34" charset="0"/>
                  </a:endParaRPr>
                </a:p>
              </p:txBody>
            </p:sp>
          </p:grpSp>
        </p:grpSp>
        <p:pic>
          <p:nvPicPr>
            <p:cNvPr id="36" name="Picture 35">
              <a:extLst>
                <a:ext uri="{FF2B5EF4-FFF2-40B4-BE49-F238E27FC236}">
                  <a16:creationId xmlns:a16="http://schemas.microsoft.com/office/drawing/2014/main" id="{890FED37-72BA-01DB-F129-997DC655EAFD}"/>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3272474" y="1841181"/>
              <a:ext cx="1379593" cy="1379593"/>
            </a:xfrm>
            <a:prstGeom prst="rect">
              <a:avLst/>
            </a:prstGeom>
          </p:spPr>
        </p:pic>
      </p:grpSp>
      <p:pic>
        <p:nvPicPr>
          <p:cNvPr id="3" name="Picture 2">
            <a:extLst>
              <a:ext uri="{FF2B5EF4-FFF2-40B4-BE49-F238E27FC236}">
                <a16:creationId xmlns:a16="http://schemas.microsoft.com/office/drawing/2014/main" id="{FCCCCDBD-47DD-A9BF-BD97-EF820290FD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838" y="3778887"/>
            <a:ext cx="2190750" cy="2921000"/>
          </a:xfrm>
          <a:prstGeom prst="rect">
            <a:avLst/>
          </a:prstGeom>
        </p:spPr>
      </p:pic>
      <p:pic>
        <p:nvPicPr>
          <p:cNvPr id="4" name="Picture 3">
            <a:extLst>
              <a:ext uri="{FF2B5EF4-FFF2-40B4-BE49-F238E27FC236}">
                <a16:creationId xmlns:a16="http://schemas.microsoft.com/office/drawing/2014/main" id="{0F27101C-2E21-D646-5A1B-2405A9E0F8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60185" y="356612"/>
            <a:ext cx="2435737" cy="3247649"/>
          </a:xfrm>
          <a:prstGeom prst="rect">
            <a:avLst/>
          </a:prstGeom>
        </p:spPr>
      </p:pic>
      <p:sp>
        <p:nvSpPr>
          <p:cNvPr id="5" name="TextBox 4">
            <a:extLst>
              <a:ext uri="{FF2B5EF4-FFF2-40B4-BE49-F238E27FC236}">
                <a16:creationId xmlns:a16="http://schemas.microsoft.com/office/drawing/2014/main" id="{B7FC08AD-BD11-04B0-45AE-E0B85C8903CD}"/>
              </a:ext>
            </a:extLst>
          </p:cNvPr>
          <p:cNvSpPr txBox="1"/>
          <p:nvPr/>
        </p:nvSpPr>
        <p:spPr>
          <a:xfrm>
            <a:off x="4546119" y="3625584"/>
            <a:ext cx="3760932" cy="369332"/>
          </a:xfrm>
          <a:prstGeom prst="rect">
            <a:avLst/>
          </a:prstGeom>
          <a:noFill/>
        </p:spPr>
        <p:txBody>
          <a:bodyPr wrap="square" rtlCol="0">
            <a:spAutoFit/>
          </a:bodyPr>
          <a:lstStyle/>
          <a:p>
            <a:r>
              <a:rPr lang="en-US" sz="1800" b="1" dirty="0"/>
              <a:t>Interaction with stake holder</a:t>
            </a:r>
            <a:endParaRPr lang="en-IN" sz="1800" b="1" dirty="0"/>
          </a:p>
        </p:txBody>
      </p:sp>
      <p:pic>
        <p:nvPicPr>
          <p:cNvPr id="7" name="Picture 6">
            <a:extLst>
              <a:ext uri="{FF2B5EF4-FFF2-40B4-BE49-F238E27FC236}">
                <a16:creationId xmlns:a16="http://schemas.microsoft.com/office/drawing/2014/main" id="{E077C914-BA7F-CADD-A4AD-8938191802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585" y="372280"/>
            <a:ext cx="2435737" cy="3247649"/>
          </a:xfrm>
          <a:prstGeom prst="rect">
            <a:avLst/>
          </a:prstGeom>
        </p:spPr>
      </p:pic>
      <p:sp>
        <p:nvSpPr>
          <p:cNvPr id="8" name="TextBox 7">
            <a:extLst>
              <a:ext uri="{FF2B5EF4-FFF2-40B4-BE49-F238E27FC236}">
                <a16:creationId xmlns:a16="http://schemas.microsoft.com/office/drawing/2014/main" id="{1B48D6E7-0DD7-3B2D-0153-11F3DADC87B2}"/>
              </a:ext>
            </a:extLst>
          </p:cNvPr>
          <p:cNvSpPr txBox="1"/>
          <p:nvPr/>
        </p:nvSpPr>
        <p:spPr>
          <a:xfrm>
            <a:off x="3060185" y="6024539"/>
            <a:ext cx="2015613" cy="369332"/>
          </a:xfrm>
          <a:prstGeom prst="rect">
            <a:avLst/>
          </a:prstGeom>
          <a:noFill/>
        </p:spPr>
        <p:txBody>
          <a:bodyPr wrap="square" rtlCol="0">
            <a:spAutoFit/>
          </a:bodyPr>
          <a:lstStyle/>
          <a:p>
            <a:r>
              <a:rPr lang="en-US" sz="1800" b="1" dirty="0"/>
              <a:t>Rush in the bus</a:t>
            </a:r>
            <a:endParaRPr lang="en-IN" sz="1800" b="1" dirty="0"/>
          </a:p>
        </p:txBody>
      </p:sp>
    </p:spTree>
    <p:extLst>
      <p:ext uri="{BB962C8B-B14F-4D97-AF65-F5344CB8AC3E}">
        <p14:creationId xmlns:p14="http://schemas.microsoft.com/office/powerpoint/2010/main" val="3266041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Ideate</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r>
              <a:rPr lang="en-US" sz="2000" b="0" i="0" dirty="0">
                <a:solidFill>
                  <a:srgbClr val="000000"/>
                </a:solidFill>
                <a:effectLst/>
                <a:latin typeface="docs-Calibri"/>
              </a:rPr>
              <a:t>To avoid push and pull inside bus there must be some person limit fixed for </a:t>
            </a:r>
            <a:r>
              <a:rPr lang="en-US" sz="2000" b="0" i="0" dirty="0" err="1">
                <a:solidFill>
                  <a:srgbClr val="000000"/>
                </a:solidFill>
                <a:effectLst/>
                <a:latin typeface="docs-Calibri"/>
              </a:rPr>
              <a:t>entrering</a:t>
            </a:r>
            <a:r>
              <a:rPr lang="en-US" sz="2000" b="0" i="0" dirty="0">
                <a:solidFill>
                  <a:srgbClr val="000000"/>
                </a:solidFill>
                <a:effectLst/>
                <a:latin typeface="docs-Calibri"/>
              </a:rPr>
              <a:t> into bus.</a:t>
            </a:r>
          </a:p>
          <a:p>
            <a:r>
              <a:rPr lang="en-US" sz="2000" b="0" i="0" dirty="0">
                <a:solidFill>
                  <a:srgbClr val="000000"/>
                </a:solidFill>
                <a:effectLst/>
                <a:latin typeface="docs-Calibri"/>
              </a:rPr>
              <a:t>By making separate schedule for buses during peak hours as per destination.</a:t>
            </a:r>
            <a:endParaRPr lang="en-US" sz="2000" dirty="0">
              <a:solidFill>
                <a:srgbClr val="000000"/>
              </a:solidFill>
              <a:latin typeface="docs-Calibri"/>
            </a:endParaRPr>
          </a:p>
          <a:p>
            <a:r>
              <a:rPr lang="en-US" sz="2000" b="0" i="0" dirty="0">
                <a:solidFill>
                  <a:srgbClr val="000000"/>
                </a:solidFill>
                <a:effectLst/>
                <a:latin typeface="docs-Calibri"/>
              </a:rPr>
              <a:t>Website can be used to issue online payment and tickets.</a:t>
            </a:r>
          </a:p>
          <a:p>
            <a:r>
              <a:rPr lang="en-IN" sz="2000" b="0" i="0" dirty="0">
                <a:solidFill>
                  <a:srgbClr val="000000"/>
                </a:solidFill>
                <a:effectLst/>
                <a:latin typeface="docs-Calibri"/>
              </a:rPr>
              <a:t>Enforcement of strict rules.</a:t>
            </a:r>
            <a:endParaRPr lang="en-US" sz="2000" dirty="0">
              <a:solidFill>
                <a:srgbClr val="000000"/>
              </a:solidFill>
              <a:latin typeface="docs-Calibri"/>
            </a:endParaRPr>
          </a:p>
          <a:p>
            <a:r>
              <a:rPr lang="en-US" sz="2000" b="0" i="0" dirty="0">
                <a:solidFill>
                  <a:srgbClr val="000000"/>
                </a:solidFill>
                <a:effectLst/>
                <a:latin typeface="docs-Calibri"/>
              </a:rPr>
              <a:t>Implementation of metro rails or sub urban trains.</a:t>
            </a:r>
          </a:p>
          <a:p>
            <a:r>
              <a:rPr lang="en-US" sz="2000" b="0" i="0" dirty="0">
                <a:solidFill>
                  <a:srgbClr val="000000"/>
                </a:solidFill>
                <a:effectLst/>
                <a:latin typeface="docs-Calibri"/>
              </a:rPr>
              <a:t>Appointment of security staff to handle the crowd during peak hour rush.</a:t>
            </a:r>
            <a:endParaRPr lang="en-US" sz="2000" dirty="0">
              <a:solidFill>
                <a:srgbClr val="000000"/>
              </a:solidFill>
              <a:latin typeface="docs-Calibri"/>
            </a:endParaRPr>
          </a:p>
          <a:p>
            <a:r>
              <a:rPr lang="en-IN" sz="2000" dirty="0">
                <a:solidFill>
                  <a:srgbClr val="000000"/>
                </a:solidFill>
                <a:latin typeface="docs-Calibri"/>
              </a:rPr>
              <a:t>I</a:t>
            </a:r>
            <a:r>
              <a:rPr lang="en-IN" sz="2000" b="0" i="0" dirty="0">
                <a:solidFill>
                  <a:srgbClr val="000000"/>
                </a:solidFill>
                <a:effectLst/>
                <a:latin typeface="docs-Calibri"/>
              </a:rPr>
              <a:t>ncrease in ticket counter.</a:t>
            </a:r>
            <a:endParaRPr lang="en-US" sz="2000" b="0" i="0" dirty="0">
              <a:solidFill>
                <a:srgbClr val="000000"/>
              </a:solidFill>
              <a:effectLst/>
              <a:latin typeface="docs-Calibri"/>
            </a:endParaRPr>
          </a:p>
          <a:p>
            <a:r>
              <a:rPr lang="en-US" sz="2000" b="0" i="0" dirty="0">
                <a:solidFill>
                  <a:srgbClr val="000000"/>
                </a:solidFill>
                <a:effectLst/>
                <a:latin typeface="docs-Calibri"/>
              </a:rPr>
              <a:t>The delaying of the buses should be taken care and they should be on time .</a:t>
            </a:r>
            <a:endParaRPr lang="en-US" sz="2000" dirty="0">
              <a:solidFill>
                <a:srgbClr val="000000"/>
              </a:solidFill>
              <a:latin typeface="docs-Calibri"/>
            </a:endParaRPr>
          </a:p>
          <a:p>
            <a:r>
              <a:rPr lang="en-US" sz="2000" b="0" i="0" dirty="0">
                <a:solidFill>
                  <a:srgbClr val="000000"/>
                </a:solidFill>
                <a:effectLst/>
                <a:latin typeface="docs-Calibri"/>
              </a:rPr>
              <a:t>Customized bus passenger boarding and deboarding planning should be done.</a:t>
            </a:r>
          </a:p>
          <a:p>
            <a:r>
              <a:rPr lang="en-US" sz="2000" b="0" i="0" dirty="0">
                <a:solidFill>
                  <a:srgbClr val="000000"/>
                </a:solidFill>
                <a:effectLst/>
                <a:latin typeface="docs-Calibri"/>
              </a:rPr>
              <a:t>Customized bus passenger boarding and deboarding planning should be done.</a:t>
            </a:r>
            <a:endParaRPr lang="en-US" sz="2000" dirty="0">
              <a:solidFill>
                <a:srgbClr val="000000"/>
              </a:solidFill>
              <a:latin typeface="docs-Calibri"/>
            </a:endParaRPr>
          </a:p>
          <a:p>
            <a:r>
              <a:rPr lang="en-US" sz="2000" b="0" i="0" dirty="0">
                <a:solidFill>
                  <a:srgbClr val="000000"/>
                </a:solidFill>
                <a:effectLst/>
                <a:latin typeface="docs-Calibri"/>
              </a:rPr>
              <a:t>To control the exit and entry a worker should be allotted.</a:t>
            </a:r>
          </a:p>
          <a:p>
            <a:r>
              <a:rPr lang="en-US" sz="2000" dirty="0">
                <a:solidFill>
                  <a:srgbClr val="000000"/>
                </a:solidFill>
                <a:latin typeface="docs-Calibri"/>
              </a:rPr>
              <a:t>P</a:t>
            </a:r>
            <a:r>
              <a:rPr lang="en-US" sz="2000" b="0" i="0" dirty="0">
                <a:solidFill>
                  <a:srgbClr val="000000"/>
                </a:solidFill>
                <a:effectLst/>
                <a:latin typeface="docs-Calibri"/>
              </a:rPr>
              <a:t>reference (elderly people) should be given who are in more need for travelling.</a:t>
            </a:r>
            <a:endParaRPr lang="en-US" sz="3200" dirty="0">
              <a:solidFill>
                <a:srgbClr val="000000"/>
              </a:solidFill>
              <a:latin typeface="docs-Calibri"/>
            </a:endParaRPr>
          </a:p>
        </p:txBody>
      </p:sp>
    </p:spTree>
    <p:extLst>
      <p:ext uri="{BB962C8B-B14F-4D97-AF65-F5344CB8AC3E}">
        <p14:creationId xmlns:p14="http://schemas.microsoft.com/office/powerpoint/2010/main" val="4080756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Ideate</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pPr marL="152396" indent="0">
              <a:buNone/>
            </a:pPr>
            <a:r>
              <a:rPr lang="en-US" sz="3200" dirty="0">
                <a:solidFill>
                  <a:srgbClr val="000000"/>
                </a:solidFill>
                <a:latin typeface="docs-Calibri"/>
              </a:rPr>
              <a:t>FINALISED IDEA:</a:t>
            </a:r>
          </a:p>
          <a:p>
            <a:pPr marL="152396" indent="0" algn="ctr">
              <a:buNone/>
            </a:pPr>
            <a:r>
              <a:rPr lang="en-US" sz="3200" b="1" i="1" dirty="0">
                <a:solidFill>
                  <a:srgbClr val="000000"/>
                </a:solidFill>
                <a:latin typeface="docs-Calibri"/>
              </a:rPr>
              <a:t>Extra ticket counter and tap out system for card holders.</a:t>
            </a:r>
          </a:p>
          <a:p>
            <a:pPr marL="152396" indent="0" algn="ctr">
              <a:buNone/>
            </a:pPr>
            <a:endParaRPr lang="en-US" sz="3200" b="1" i="1" dirty="0">
              <a:solidFill>
                <a:srgbClr val="000000"/>
              </a:solidFill>
              <a:effectLst/>
              <a:latin typeface="docs-Calibri"/>
            </a:endParaRPr>
          </a:p>
        </p:txBody>
      </p:sp>
    </p:spTree>
    <p:extLst>
      <p:ext uri="{BB962C8B-B14F-4D97-AF65-F5344CB8AC3E}">
        <p14:creationId xmlns:p14="http://schemas.microsoft.com/office/powerpoint/2010/main" val="1062683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CE185D-891B-21A9-FF69-331C17E91CC7}"/>
              </a:ext>
            </a:extLst>
          </p:cNvPr>
          <p:cNvSpPr>
            <a:spLocks noGrp="1"/>
          </p:cNvSpPr>
          <p:nvPr>
            <p:ph type="title"/>
          </p:nvPr>
        </p:nvSpPr>
        <p:spPr/>
        <p:txBody>
          <a:bodyPr/>
          <a:lstStyle/>
          <a:p>
            <a:r>
              <a:rPr lang="en-IN" dirty="0"/>
              <a:t>IDEA FILTERING</a:t>
            </a:r>
          </a:p>
        </p:txBody>
      </p:sp>
      <p:sp>
        <p:nvSpPr>
          <p:cNvPr id="7" name="Text Placeholder 6">
            <a:extLst>
              <a:ext uri="{FF2B5EF4-FFF2-40B4-BE49-F238E27FC236}">
                <a16:creationId xmlns:a16="http://schemas.microsoft.com/office/drawing/2014/main" id="{EB8628D1-C07E-4531-42BD-CEE3B68881D7}"/>
              </a:ext>
            </a:extLst>
          </p:cNvPr>
          <p:cNvSpPr>
            <a:spLocks noGrp="1"/>
          </p:cNvSpPr>
          <p:nvPr>
            <p:ph type="body" idx="1"/>
          </p:nvPr>
        </p:nvSpPr>
        <p:spPr/>
        <p:txBody>
          <a:bodyPr/>
          <a:lstStyle/>
          <a:p>
            <a:endParaRPr lang="en-IN" dirty="0"/>
          </a:p>
        </p:txBody>
      </p:sp>
      <p:graphicFrame>
        <p:nvGraphicFramePr>
          <p:cNvPr id="8" name="Table 8">
            <a:extLst>
              <a:ext uri="{FF2B5EF4-FFF2-40B4-BE49-F238E27FC236}">
                <a16:creationId xmlns:a16="http://schemas.microsoft.com/office/drawing/2014/main" id="{F19F09CD-0DE1-96FF-9F8B-F05E17B07D65}"/>
              </a:ext>
            </a:extLst>
          </p:cNvPr>
          <p:cNvGraphicFramePr>
            <a:graphicFrameLocks noGrp="1"/>
          </p:cNvGraphicFramePr>
          <p:nvPr>
            <p:extLst>
              <p:ext uri="{D42A27DB-BD31-4B8C-83A1-F6EECF244321}">
                <p14:modId xmlns:p14="http://schemas.microsoft.com/office/powerpoint/2010/main" val="746953769"/>
              </p:ext>
            </p:extLst>
          </p:nvPr>
        </p:nvGraphicFramePr>
        <p:xfrm>
          <a:off x="483810" y="1038045"/>
          <a:ext cx="10058400" cy="5122606"/>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4280133355"/>
                    </a:ext>
                  </a:extLst>
                </a:gridCol>
                <a:gridCol w="5029200">
                  <a:extLst>
                    <a:ext uri="{9D8B030D-6E8A-4147-A177-3AD203B41FA5}">
                      <a16:colId xmlns:a16="http://schemas.microsoft.com/office/drawing/2014/main" val="801999460"/>
                    </a:ext>
                  </a:extLst>
                </a:gridCol>
              </a:tblGrid>
              <a:tr h="2669457">
                <a:tc>
                  <a:txBody>
                    <a:bodyPr/>
                    <a:lstStyle/>
                    <a:p>
                      <a:pPr algn="ctr"/>
                      <a:r>
                        <a:rPr lang="en-IN" sz="1800" b="1" i="0" kern="1200" dirty="0">
                          <a:solidFill>
                            <a:schemeClr val="lt1"/>
                          </a:solidFill>
                          <a:effectLst/>
                          <a:latin typeface="+mn-lt"/>
                          <a:ea typeface="+mn-ea"/>
                          <a:cs typeface="+mn-cs"/>
                        </a:rPr>
                        <a:t>High Impact &amp; Low Feasibility </a:t>
                      </a:r>
                    </a:p>
                    <a:p>
                      <a:pPr marL="0" indent="0">
                        <a:buNone/>
                      </a:pPr>
                      <a:r>
                        <a:rPr lang="en-US" sz="1600" b="0" i="0" kern="1200" dirty="0">
                          <a:solidFill>
                            <a:schemeClr val="lt1"/>
                          </a:solidFill>
                          <a:effectLst/>
                          <a:latin typeface="+mn-lt"/>
                          <a:ea typeface="+mn-ea"/>
                          <a:cs typeface="+mn-cs"/>
                        </a:rPr>
                        <a:t>1)Constructing under ground metro rails or sub urban trains.</a:t>
                      </a:r>
                    </a:p>
                    <a:p>
                      <a:pPr marL="0" indent="0">
                        <a:buNone/>
                      </a:pPr>
                      <a:r>
                        <a:rPr lang="en-US" sz="1600" b="0" i="0" kern="1200" dirty="0">
                          <a:solidFill>
                            <a:schemeClr val="lt1"/>
                          </a:solidFill>
                          <a:effectLst/>
                          <a:latin typeface="+mn-lt"/>
                          <a:ea typeface="+mn-ea"/>
                          <a:cs typeface="+mn-cs"/>
                        </a:rPr>
                        <a:t>2)Extra Ticket counter </a:t>
                      </a:r>
                    </a:p>
                    <a:p>
                      <a:pPr marL="0" indent="0">
                        <a:buNone/>
                      </a:pPr>
                      <a:r>
                        <a:rPr lang="en-US" sz="1600" b="0" i="0" kern="1200" dirty="0">
                          <a:solidFill>
                            <a:schemeClr val="lt1"/>
                          </a:solidFill>
                          <a:effectLst/>
                          <a:latin typeface="+mn-lt"/>
                          <a:ea typeface="+mn-ea"/>
                          <a:cs typeface="+mn-cs"/>
                        </a:rPr>
                        <a:t> 3)Increase in area of the bus stops .</a:t>
                      </a:r>
                    </a:p>
                    <a:p>
                      <a:pPr marL="0" indent="0">
                        <a:buNone/>
                      </a:pPr>
                      <a:r>
                        <a:rPr lang="en-US" sz="1600" b="0" i="0" kern="1200" dirty="0">
                          <a:solidFill>
                            <a:schemeClr val="lt1"/>
                          </a:solidFill>
                          <a:effectLst/>
                          <a:latin typeface="+mn-lt"/>
                          <a:ea typeface="+mn-ea"/>
                          <a:cs typeface="+mn-cs"/>
                        </a:rPr>
                        <a:t> 4) Increase in the number of buses </a:t>
                      </a:r>
                      <a:endParaRPr lang="en-IN" sz="1600" b="0" i="0" kern="1200" dirty="0">
                        <a:solidFill>
                          <a:schemeClr val="lt1"/>
                        </a:solidFill>
                        <a:effectLst/>
                        <a:latin typeface="+mn-lt"/>
                        <a:ea typeface="+mn-ea"/>
                        <a:cs typeface="+mn-cs"/>
                      </a:endParaRPr>
                    </a:p>
                    <a:p>
                      <a:endParaRPr lang="en-IN" dirty="0"/>
                    </a:p>
                  </a:txBody>
                  <a:tcPr/>
                </a:tc>
                <a:tc>
                  <a:txBody>
                    <a:bodyPr/>
                    <a:lstStyle/>
                    <a:p>
                      <a:pPr algn="ctr"/>
                      <a:r>
                        <a:rPr lang="en-IN" sz="1800" b="1" i="0" kern="1200" dirty="0">
                          <a:solidFill>
                            <a:schemeClr val="lt1"/>
                          </a:solidFill>
                          <a:effectLst/>
                          <a:latin typeface="+mn-lt"/>
                          <a:ea typeface="+mn-ea"/>
                          <a:cs typeface="+mn-cs"/>
                        </a:rPr>
                        <a:t>High Impact &amp; High Feasibility</a:t>
                      </a:r>
                    </a:p>
                    <a:p>
                      <a:pPr algn="l"/>
                      <a:r>
                        <a:rPr lang="en-IN" sz="1600" b="1" i="0" kern="1200" dirty="0">
                          <a:solidFill>
                            <a:schemeClr val="lt1"/>
                          </a:solidFill>
                          <a:effectLst/>
                          <a:latin typeface="+mn-lt"/>
                          <a:ea typeface="+mn-ea"/>
                          <a:cs typeface="+mn-cs"/>
                        </a:rPr>
                        <a:t> </a:t>
                      </a:r>
                      <a:r>
                        <a:rPr lang="en-US" sz="1600" b="0" i="0" kern="1200" dirty="0">
                          <a:solidFill>
                            <a:schemeClr val="lt1"/>
                          </a:solidFill>
                          <a:effectLst/>
                          <a:latin typeface="+mn-lt"/>
                          <a:ea typeface="+mn-ea"/>
                          <a:cs typeface="+mn-cs"/>
                        </a:rPr>
                        <a:t>1) Appointment of security staff .</a:t>
                      </a:r>
                    </a:p>
                    <a:p>
                      <a:pPr algn="l"/>
                      <a:r>
                        <a:rPr lang="en-US" sz="1600" b="0" i="0" kern="1200" dirty="0">
                          <a:solidFill>
                            <a:schemeClr val="lt1"/>
                          </a:solidFill>
                          <a:effectLst/>
                          <a:latin typeface="+mn-lt"/>
                          <a:ea typeface="+mn-ea"/>
                          <a:cs typeface="+mn-cs"/>
                        </a:rPr>
                        <a:t> 2) Enforcement of strict rules and regulations . </a:t>
                      </a:r>
                    </a:p>
                    <a:p>
                      <a:pPr algn="l"/>
                      <a:r>
                        <a:rPr lang="en-US" sz="1600" b="0" i="0" kern="1200" dirty="0">
                          <a:solidFill>
                            <a:schemeClr val="lt1"/>
                          </a:solidFill>
                          <a:effectLst/>
                          <a:latin typeface="+mn-lt"/>
                          <a:ea typeface="+mn-ea"/>
                          <a:cs typeface="+mn-cs"/>
                        </a:rPr>
                        <a:t>3). </a:t>
                      </a:r>
                      <a:r>
                        <a:rPr lang="en-US" sz="1800" b="0" i="0" kern="1200" dirty="0">
                          <a:solidFill>
                            <a:schemeClr val="lt1"/>
                          </a:solidFill>
                          <a:effectLst/>
                          <a:latin typeface="+mn-lt"/>
                          <a:ea typeface="+mn-ea"/>
                          <a:cs typeface="+mn-cs"/>
                        </a:rPr>
                        <a:t>Disciplined</a:t>
                      </a:r>
                      <a:r>
                        <a:rPr lang="en-US" sz="1600" b="0" i="0" kern="1200" dirty="0">
                          <a:solidFill>
                            <a:schemeClr val="lt1"/>
                          </a:solidFill>
                          <a:effectLst/>
                          <a:latin typeface="+mn-lt"/>
                          <a:ea typeface="+mn-ea"/>
                          <a:cs typeface="+mn-cs"/>
                        </a:rPr>
                        <a:t> arrival timings of buses especially during peak hours. </a:t>
                      </a:r>
                    </a:p>
                    <a:p>
                      <a:pPr algn="l"/>
                      <a:r>
                        <a:rPr lang="en-US" sz="1600" b="0" i="0" kern="1200" dirty="0">
                          <a:solidFill>
                            <a:schemeClr val="lt1"/>
                          </a:solidFill>
                          <a:effectLst/>
                          <a:latin typeface="+mn-lt"/>
                          <a:ea typeface="+mn-ea"/>
                          <a:cs typeface="+mn-cs"/>
                        </a:rPr>
                        <a:t>4into the buses.</a:t>
                      </a:r>
                    </a:p>
                    <a:p>
                      <a:pPr algn="l"/>
                      <a:r>
                        <a:rPr lang="en-US" sz="1600" b="0" i="0" kern="1200" dirty="0">
                          <a:solidFill>
                            <a:schemeClr val="lt1"/>
                          </a:solidFill>
                          <a:effectLst/>
                          <a:latin typeface="+mn-lt"/>
                          <a:ea typeface="+mn-ea"/>
                          <a:cs typeface="+mn-cs"/>
                        </a:rPr>
                        <a:t>5) Online issuing of tickets </a:t>
                      </a:r>
                      <a:endParaRPr lang="en-IN" sz="1600" dirty="0"/>
                    </a:p>
                    <a:p>
                      <a:pPr algn="l"/>
                      <a:r>
                        <a:rPr lang="en-US" sz="1600" b="0" i="0" kern="1200" dirty="0">
                          <a:solidFill>
                            <a:schemeClr val="lt1"/>
                          </a:solidFill>
                          <a:effectLst/>
                          <a:latin typeface="+mn-lt"/>
                          <a:ea typeface="+mn-ea"/>
                          <a:cs typeface="+mn-cs"/>
                        </a:rPr>
                        <a:t>To avoid push and pull there must be some person limit for entering</a:t>
                      </a:r>
                      <a:endParaRPr lang="en-IN" sz="1600" dirty="0"/>
                    </a:p>
                    <a:p>
                      <a:endParaRPr lang="en-IN" dirty="0"/>
                    </a:p>
                  </a:txBody>
                  <a:tcPr/>
                </a:tc>
                <a:extLst>
                  <a:ext uri="{0D108BD9-81ED-4DB2-BD59-A6C34878D82A}">
                    <a16:rowId xmlns:a16="http://schemas.microsoft.com/office/drawing/2014/main" val="1674787895"/>
                  </a:ext>
                </a:extLst>
              </a:tr>
              <a:tr h="2453149">
                <a:tc>
                  <a:txBody>
                    <a:bodyPr/>
                    <a:lstStyle/>
                    <a:p>
                      <a:pPr algn="ctr"/>
                      <a:r>
                        <a:rPr lang="en-IN" sz="1800" b="1" i="0" kern="1200" dirty="0">
                          <a:solidFill>
                            <a:schemeClr val="dk1"/>
                          </a:solidFill>
                          <a:effectLst/>
                          <a:latin typeface="+mn-lt"/>
                          <a:ea typeface="+mn-ea"/>
                          <a:cs typeface="+mn-cs"/>
                        </a:rPr>
                        <a:t>Low Impact &amp; Low Feasibility</a:t>
                      </a:r>
                    </a:p>
                    <a:p>
                      <a:r>
                        <a:rPr lang="en-US" sz="1600" b="0" i="0" kern="1200" dirty="0">
                          <a:solidFill>
                            <a:schemeClr val="dk1"/>
                          </a:solidFill>
                          <a:effectLst/>
                          <a:latin typeface="+mn-lt"/>
                          <a:ea typeface="+mn-ea"/>
                          <a:cs typeface="+mn-cs"/>
                        </a:rPr>
                        <a:t>1)Preference (elderly people) should be given who are in more need for traveling.</a:t>
                      </a:r>
                    </a:p>
                    <a:p>
                      <a:r>
                        <a:rPr lang="en-US" sz="1600" b="0" i="0" kern="1200" dirty="0">
                          <a:solidFill>
                            <a:schemeClr val="dk1"/>
                          </a:solidFill>
                          <a:effectLst/>
                          <a:latin typeface="+mn-lt"/>
                          <a:ea typeface="+mn-ea"/>
                          <a:cs typeface="+mn-cs"/>
                        </a:rPr>
                        <a:t> 2) Introducing separate bus services for shorter trips and longer trips.</a:t>
                      </a:r>
                    </a:p>
                    <a:p>
                      <a:r>
                        <a:rPr lang="en-US" sz="1600" b="0" i="0" kern="1200" dirty="0">
                          <a:solidFill>
                            <a:schemeClr val="dk1"/>
                          </a:solidFill>
                          <a:effectLst/>
                          <a:latin typeface="+mn-lt"/>
                          <a:ea typeface="+mn-ea"/>
                          <a:cs typeface="+mn-cs"/>
                        </a:rPr>
                        <a:t>3) customized boarding and deboarding plan 4)increase in number of seats</a:t>
                      </a:r>
                    </a:p>
                    <a:p>
                      <a:endParaRPr lang="en-IN" dirty="0"/>
                    </a:p>
                  </a:txBody>
                  <a:tcPr/>
                </a:tc>
                <a:tc>
                  <a:txBody>
                    <a:bodyPr/>
                    <a:lstStyle/>
                    <a:p>
                      <a:pPr algn="ctr"/>
                      <a:r>
                        <a:rPr lang="en-IN" sz="2000" b="1" i="0" kern="1200" dirty="0">
                          <a:solidFill>
                            <a:schemeClr val="dk1"/>
                          </a:solidFill>
                          <a:effectLst/>
                          <a:latin typeface="+mn-lt"/>
                          <a:ea typeface="+mn-ea"/>
                          <a:cs typeface="+mn-cs"/>
                        </a:rPr>
                        <a:t>Low Impact &amp; High Feasibility</a:t>
                      </a:r>
                    </a:p>
                    <a:p>
                      <a:pPr marL="342900" indent="-342900" algn="l">
                        <a:buAutoNum type="arabicParenR"/>
                      </a:pPr>
                      <a:r>
                        <a:rPr lang="en-US" sz="1600" b="0" i="0" kern="1200" dirty="0">
                          <a:solidFill>
                            <a:schemeClr val="dk1"/>
                          </a:solidFill>
                          <a:effectLst/>
                          <a:latin typeface="+mn-lt"/>
                          <a:ea typeface="+mn-ea"/>
                          <a:cs typeface="+mn-cs"/>
                        </a:rPr>
                        <a:t>Introducing "No Standing "area near the doors. </a:t>
                      </a:r>
                    </a:p>
                    <a:p>
                      <a:pPr marL="342900" indent="-342900" algn="l">
                        <a:buAutoNum type="arabicParenR"/>
                      </a:pPr>
                      <a:r>
                        <a:rPr lang="en-US" sz="1600" b="0" i="0" kern="1200" dirty="0">
                          <a:solidFill>
                            <a:schemeClr val="dk1"/>
                          </a:solidFill>
                          <a:effectLst/>
                          <a:latin typeface="+mn-lt"/>
                          <a:ea typeface="+mn-ea"/>
                          <a:cs typeface="+mn-cs"/>
                        </a:rPr>
                        <a:t>Specially allotted seats for senior citizens and physically challenged people.</a:t>
                      </a:r>
                    </a:p>
                    <a:p>
                      <a:pPr marL="342900" indent="-342900" algn="l">
                        <a:buAutoNum type="arabicParenR"/>
                      </a:pPr>
                      <a:r>
                        <a:rPr lang="en-US" sz="1600" b="0" i="0" kern="1200" dirty="0">
                          <a:solidFill>
                            <a:schemeClr val="dk1"/>
                          </a:solidFill>
                          <a:effectLst/>
                          <a:latin typeface="+mn-lt"/>
                          <a:ea typeface="+mn-ea"/>
                          <a:cs typeface="+mn-cs"/>
                        </a:rPr>
                        <a:t>To avoid push and pull inside bus there must be some person limit fixed for entering into bus</a:t>
                      </a:r>
                      <a:endParaRPr lang="en-IN" sz="1600" b="1" dirty="0"/>
                    </a:p>
                    <a:p>
                      <a:endParaRPr lang="en-IN" dirty="0"/>
                    </a:p>
                  </a:txBody>
                  <a:tcPr/>
                </a:tc>
                <a:extLst>
                  <a:ext uri="{0D108BD9-81ED-4DB2-BD59-A6C34878D82A}">
                    <a16:rowId xmlns:a16="http://schemas.microsoft.com/office/drawing/2014/main" val="4044569594"/>
                  </a:ext>
                </a:extLst>
              </a:tr>
            </a:tbl>
          </a:graphicData>
        </a:graphic>
      </p:graphicFrame>
    </p:spTree>
    <p:extLst>
      <p:ext uri="{BB962C8B-B14F-4D97-AF65-F5344CB8AC3E}">
        <p14:creationId xmlns:p14="http://schemas.microsoft.com/office/powerpoint/2010/main" val="3193335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IDEA EVALUATION</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pPr marL="152396" indent="0">
              <a:buNone/>
            </a:pPr>
            <a:endParaRPr lang="en-US" sz="4400" dirty="0">
              <a:solidFill>
                <a:srgbClr val="000000"/>
              </a:solidFill>
              <a:latin typeface="docs-Calibri"/>
            </a:endParaRPr>
          </a:p>
        </p:txBody>
      </p:sp>
      <p:pic>
        <p:nvPicPr>
          <p:cNvPr id="5" name="Picture 4">
            <a:extLst>
              <a:ext uri="{FF2B5EF4-FFF2-40B4-BE49-F238E27FC236}">
                <a16:creationId xmlns:a16="http://schemas.microsoft.com/office/drawing/2014/main" id="{DD579DF0-DD3C-A57B-B994-75350BABFDD2}"/>
              </a:ext>
            </a:extLst>
          </p:cNvPr>
          <p:cNvPicPr>
            <a:picLocks noChangeAspect="1"/>
          </p:cNvPicPr>
          <p:nvPr/>
        </p:nvPicPr>
        <p:blipFill>
          <a:blip r:embed="rId2"/>
          <a:stretch>
            <a:fillRect/>
          </a:stretch>
        </p:blipFill>
        <p:spPr>
          <a:xfrm>
            <a:off x="1128712" y="2286000"/>
            <a:ext cx="9934575" cy="2286000"/>
          </a:xfrm>
          <a:prstGeom prst="rect">
            <a:avLst/>
          </a:prstGeom>
        </p:spPr>
      </p:pic>
    </p:spTree>
    <p:extLst>
      <p:ext uri="{BB962C8B-B14F-4D97-AF65-F5344CB8AC3E}">
        <p14:creationId xmlns:p14="http://schemas.microsoft.com/office/powerpoint/2010/main" val="3661716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Prototype Specification</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pPr marL="152396" indent="0">
              <a:buNone/>
            </a:pPr>
            <a:endParaRPr lang="en-US" sz="2800" dirty="0">
              <a:solidFill>
                <a:srgbClr val="FF0000"/>
              </a:solidFill>
            </a:endParaRPr>
          </a:p>
          <a:p>
            <a:endParaRPr lang="en-IN" dirty="0"/>
          </a:p>
        </p:txBody>
      </p:sp>
      <p:graphicFrame>
        <p:nvGraphicFramePr>
          <p:cNvPr id="4" name="Table 4">
            <a:extLst>
              <a:ext uri="{FF2B5EF4-FFF2-40B4-BE49-F238E27FC236}">
                <a16:creationId xmlns:a16="http://schemas.microsoft.com/office/drawing/2014/main" id="{EFDB5FEC-D1C3-D65D-1225-28E21EAF6D15}"/>
              </a:ext>
            </a:extLst>
          </p:cNvPr>
          <p:cNvGraphicFramePr>
            <a:graphicFrameLocks noGrp="1"/>
          </p:cNvGraphicFramePr>
          <p:nvPr>
            <p:extLst>
              <p:ext uri="{D42A27DB-BD31-4B8C-83A1-F6EECF244321}">
                <p14:modId xmlns:p14="http://schemas.microsoft.com/office/powerpoint/2010/main" val="3328501012"/>
              </p:ext>
            </p:extLst>
          </p:nvPr>
        </p:nvGraphicFramePr>
        <p:xfrm>
          <a:off x="793135" y="1103124"/>
          <a:ext cx="8128000" cy="1229614"/>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1259942814"/>
                    </a:ext>
                  </a:extLst>
                </a:gridCol>
              </a:tblGrid>
              <a:tr h="370840">
                <a:tc>
                  <a:txBody>
                    <a:bodyPr/>
                    <a:lstStyle/>
                    <a:p>
                      <a:pPr marL="0" indent="0">
                        <a:buFont typeface="+mj-lt"/>
                        <a:buNone/>
                      </a:pPr>
                      <a:r>
                        <a:rPr lang="en-IN" dirty="0"/>
                        <a:t>Finalized idea:</a:t>
                      </a:r>
                    </a:p>
                    <a:p>
                      <a:pPr marL="457200" indent="-457200">
                        <a:buFont typeface="+mj-lt"/>
                        <a:buAutoNum type="arabicPeriod"/>
                      </a:pPr>
                      <a:r>
                        <a:rPr lang="en-IN" dirty="0"/>
                        <a:t>Increase in number of buses</a:t>
                      </a:r>
                    </a:p>
                    <a:p>
                      <a:pPr marL="457200" indent="-457200">
                        <a:buFont typeface="+mj-lt"/>
                        <a:buAutoNum type="arabicPeriod"/>
                      </a:pPr>
                      <a:r>
                        <a:rPr lang="en-IN" dirty="0"/>
                        <a:t>Extra ticket counter</a:t>
                      </a:r>
                    </a:p>
                    <a:p>
                      <a:pPr marL="457200" indent="-457200">
                        <a:buFont typeface="+mj-lt"/>
                        <a:buAutoNum type="arabicPeriod"/>
                      </a:pPr>
                      <a:endParaRPr lang="en-IN" dirty="0"/>
                    </a:p>
                  </a:txBody>
                  <a:tcPr/>
                </a:tc>
                <a:extLst>
                  <a:ext uri="{0D108BD9-81ED-4DB2-BD59-A6C34878D82A}">
                    <a16:rowId xmlns:a16="http://schemas.microsoft.com/office/drawing/2014/main" val="2267006490"/>
                  </a:ext>
                </a:extLst>
              </a:tr>
            </a:tbl>
          </a:graphicData>
        </a:graphic>
      </p:graphicFrame>
      <p:graphicFrame>
        <p:nvGraphicFramePr>
          <p:cNvPr id="7" name="Table 7">
            <a:extLst>
              <a:ext uri="{FF2B5EF4-FFF2-40B4-BE49-F238E27FC236}">
                <a16:creationId xmlns:a16="http://schemas.microsoft.com/office/drawing/2014/main" id="{A1BFA36C-23A6-F573-EA6D-1839578BD011}"/>
              </a:ext>
            </a:extLst>
          </p:cNvPr>
          <p:cNvGraphicFramePr>
            <a:graphicFrameLocks noGrp="1"/>
          </p:cNvGraphicFramePr>
          <p:nvPr>
            <p:extLst>
              <p:ext uri="{D42A27DB-BD31-4B8C-83A1-F6EECF244321}">
                <p14:modId xmlns:p14="http://schemas.microsoft.com/office/powerpoint/2010/main" val="2313899169"/>
              </p:ext>
            </p:extLst>
          </p:nvPr>
        </p:nvGraphicFramePr>
        <p:xfrm>
          <a:off x="793135" y="2332738"/>
          <a:ext cx="8128000" cy="3668399"/>
        </p:xfrm>
        <a:graphic>
          <a:graphicData uri="http://schemas.openxmlformats.org/drawingml/2006/table">
            <a:tbl>
              <a:tblPr firstRow="1" bandRow="1">
                <a:tableStyleId>{5C22544A-7EE6-4342-B048-85BDC9FD1C3A}</a:tableStyleId>
              </a:tblPr>
              <a:tblGrid>
                <a:gridCol w="3208594">
                  <a:extLst>
                    <a:ext uri="{9D8B030D-6E8A-4147-A177-3AD203B41FA5}">
                      <a16:colId xmlns:a16="http://schemas.microsoft.com/office/drawing/2014/main" val="962289288"/>
                    </a:ext>
                  </a:extLst>
                </a:gridCol>
                <a:gridCol w="4919406">
                  <a:extLst>
                    <a:ext uri="{9D8B030D-6E8A-4147-A177-3AD203B41FA5}">
                      <a16:colId xmlns:a16="http://schemas.microsoft.com/office/drawing/2014/main" val="2934942486"/>
                    </a:ext>
                  </a:extLst>
                </a:gridCol>
              </a:tblGrid>
              <a:tr h="370840">
                <a:tc>
                  <a:txBody>
                    <a:bodyPr/>
                    <a:lstStyle/>
                    <a:p>
                      <a:r>
                        <a:rPr lang="en-IN" dirty="0"/>
                        <a:t>PARAMETERS</a:t>
                      </a:r>
                    </a:p>
                  </a:txBody>
                  <a:tcPr/>
                </a:tc>
                <a:tc>
                  <a:txBody>
                    <a:bodyPr/>
                    <a:lstStyle/>
                    <a:p>
                      <a:r>
                        <a:rPr lang="en-IN" dirty="0"/>
                        <a:t>SPECIFICATIONS</a:t>
                      </a:r>
                    </a:p>
                  </a:txBody>
                  <a:tcPr/>
                </a:tc>
                <a:extLst>
                  <a:ext uri="{0D108BD9-81ED-4DB2-BD59-A6C34878D82A}">
                    <a16:rowId xmlns:a16="http://schemas.microsoft.com/office/drawing/2014/main" val="716337769"/>
                  </a:ext>
                </a:extLst>
              </a:tr>
              <a:tr h="370840">
                <a:tc>
                  <a:txBody>
                    <a:bodyPr/>
                    <a:lstStyle/>
                    <a:p>
                      <a:r>
                        <a:rPr lang="en-IN" dirty="0"/>
                        <a:t>No of scenes</a:t>
                      </a:r>
                    </a:p>
                  </a:txBody>
                  <a:tcPr/>
                </a:tc>
                <a:tc>
                  <a:txBody>
                    <a:bodyPr/>
                    <a:lstStyle/>
                    <a:p>
                      <a:r>
                        <a:rPr lang="en-IN" dirty="0"/>
                        <a:t>10</a:t>
                      </a:r>
                    </a:p>
                  </a:txBody>
                  <a:tcPr/>
                </a:tc>
                <a:extLst>
                  <a:ext uri="{0D108BD9-81ED-4DB2-BD59-A6C34878D82A}">
                    <a16:rowId xmlns:a16="http://schemas.microsoft.com/office/drawing/2014/main" val="2874768651"/>
                  </a:ext>
                </a:extLst>
              </a:tr>
              <a:tr h="370840">
                <a:tc>
                  <a:txBody>
                    <a:bodyPr/>
                    <a:lstStyle/>
                    <a:p>
                      <a:r>
                        <a:rPr lang="en-IN" dirty="0"/>
                        <a:t>Geo tagged photos</a:t>
                      </a:r>
                    </a:p>
                  </a:txBody>
                  <a:tcPr/>
                </a:tc>
                <a:tc>
                  <a:txBody>
                    <a:bodyPr/>
                    <a:lstStyle/>
                    <a:p>
                      <a:r>
                        <a:rPr lang="en-IN" dirty="0"/>
                        <a:t>2</a:t>
                      </a:r>
                    </a:p>
                  </a:txBody>
                  <a:tcPr/>
                </a:tc>
                <a:extLst>
                  <a:ext uri="{0D108BD9-81ED-4DB2-BD59-A6C34878D82A}">
                    <a16:rowId xmlns:a16="http://schemas.microsoft.com/office/drawing/2014/main" val="3929650864"/>
                  </a:ext>
                </a:extLst>
              </a:tr>
              <a:tr h="370840">
                <a:tc>
                  <a:txBody>
                    <a:bodyPr/>
                    <a:lstStyle/>
                    <a:p>
                      <a:r>
                        <a:rPr lang="en-IN" dirty="0"/>
                        <a:t>Size of paper </a:t>
                      </a:r>
                    </a:p>
                  </a:txBody>
                  <a:tcPr/>
                </a:tc>
                <a:tc>
                  <a:txBody>
                    <a:bodyPr/>
                    <a:lstStyle/>
                    <a:p>
                      <a:r>
                        <a:rPr lang="en-IN" dirty="0"/>
                        <a:t>A1 size paper</a:t>
                      </a:r>
                    </a:p>
                  </a:txBody>
                  <a:tcPr/>
                </a:tc>
                <a:extLst>
                  <a:ext uri="{0D108BD9-81ED-4DB2-BD59-A6C34878D82A}">
                    <a16:rowId xmlns:a16="http://schemas.microsoft.com/office/drawing/2014/main" val="3561980817"/>
                  </a:ext>
                </a:extLst>
              </a:tr>
              <a:tr h="370840">
                <a:tc>
                  <a:txBody>
                    <a:bodyPr/>
                    <a:lstStyle/>
                    <a:p>
                      <a:r>
                        <a:rPr lang="en-IN" dirty="0"/>
                        <a:t>App used</a:t>
                      </a:r>
                    </a:p>
                  </a:txBody>
                  <a:tcPr/>
                </a:tc>
                <a:tc>
                  <a:txBody>
                    <a:bodyPr/>
                    <a:lstStyle/>
                    <a:p>
                      <a:r>
                        <a:rPr lang="en-IN" dirty="0"/>
                        <a:t>Canva </a:t>
                      </a:r>
                    </a:p>
                  </a:txBody>
                  <a:tcPr/>
                </a:tc>
                <a:extLst>
                  <a:ext uri="{0D108BD9-81ED-4DB2-BD59-A6C34878D82A}">
                    <a16:rowId xmlns:a16="http://schemas.microsoft.com/office/drawing/2014/main" val="3491109184"/>
                  </a:ext>
                </a:extLst>
              </a:tr>
              <a:tr h="370840">
                <a:tc>
                  <a:txBody>
                    <a:bodyPr/>
                    <a:lstStyle/>
                    <a:p>
                      <a:r>
                        <a:rPr lang="en-IN" dirty="0"/>
                        <a:t>Type of prototype</a:t>
                      </a:r>
                    </a:p>
                  </a:txBody>
                  <a:tcPr/>
                </a:tc>
                <a:tc>
                  <a:txBody>
                    <a:bodyPr/>
                    <a:lstStyle/>
                    <a:p>
                      <a:r>
                        <a:rPr lang="en-IN" dirty="0"/>
                        <a:t>Story boarding </a:t>
                      </a:r>
                    </a:p>
                  </a:txBody>
                  <a:tcPr/>
                </a:tc>
                <a:extLst>
                  <a:ext uri="{0D108BD9-81ED-4DB2-BD59-A6C34878D82A}">
                    <a16:rowId xmlns:a16="http://schemas.microsoft.com/office/drawing/2014/main" val="2978369412"/>
                  </a:ext>
                </a:extLst>
              </a:tr>
              <a:tr h="370840">
                <a:tc>
                  <a:txBody>
                    <a:bodyPr/>
                    <a:lstStyle/>
                    <a:p>
                      <a:r>
                        <a:rPr lang="en-IN" dirty="0"/>
                        <a:t>Language used</a:t>
                      </a:r>
                    </a:p>
                  </a:txBody>
                  <a:tcPr/>
                </a:tc>
                <a:tc>
                  <a:txBody>
                    <a:bodyPr/>
                    <a:lstStyle/>
                    <a:p>
                      <a:r>
                        <a:rPr lang="en-IN" dirty="0"/>
                        <a:t>English</a:t>
                      </a:r>
                    </a:p>
                  </a:txBody>
                  <a:tcPr/>
                </a:tc>
                <a:extLst>
                  <a:ext uri="{0D108BD9-81ED-4DB2-BD59-A6C34878D82A}">
                    <a16:rowId xmlns:a16="http://schemas.microsoft.com/office/drawing/2014/main" val="1973328513"/>
                  </a:ext>
                </a:extLst>
              </a:tr>
              <a:tr h="370840">
                <a:tc>
                  <a:txBody>
                    <a:bodyPr/>
                    <a:lstStyle/>
                    <a:p>
                      <a:r>
                        <a:rPr lang="en-IN" dirty="0"/>
                        <a:t>Type of content</a:t>
                      </a:r>
                    </a:p>
                  </a:txBody>
                  <a:tcPr/>
                </a:tc>
                <a:tc>
                  <a:txBody>
                    <a:bodyPr/>
                    <a:lstStyle/>
                    <a:p>
                      <a:r>
                        <a:rPr lang="en-IN" dirty="0"/>
                        <a:t>Use of real, animated pic and text</a:t>
                      </a:r>
                    </a:p>
                  </a:txBody>
                  <a:tcPr/>
                </a:tc>
                <a:extLst>
                  <a:ext uri="{0D108BD9-81ED-4DB2-BD59-A6C34878D82A}">
                    <a16:rowId xmlns:a16="http://schemas.microsoft.com/office/drawing/2014/main" val="1703173030"/>
                  </a:ext>
                </a:extLst>
              </a:tr>
              <a:tr h="370840">
                <a:tc>
                  <a:txBody>
                    <a:bodyPr/>
                    <a:lstStyle/>
                    <a:p>
                      <a:r>
                        <a:rPr lang="en-IN" dirty="0"/>
                        <a:t>Target group</a:t>
                      </a:r>
                    </a:p>
                  </a:txBody>
                  <a:tcPr/>
                </a:tc>
                <a:tc>
                  <a:txBody>
                    <a:bodyPr/>
                    <a:lstStyle/>
                    <a:p>
                      <a:r>
                        <a:rPr lang="en-IN" dirty="0"/>
                        <a:t>Students senior citizens and other commuters</a:t>
                      </a:r>
                    </a:p>
                  </a:txBody>
                  <a:tcPr/>
                </a:tc>
                <a:extLst>
                  <a:ext uri="{0D108BD9-81ED-4DB2-BD59-A6C34878D82A}">
                    <a16:rowId xmlns:a16="http://schemas.microsoft.com/office/drawing/2014/main" val="2208238697"/>
                  </a:ext>
                </a:extLst>
              </a:tr>
            </a:tbl>
          </a:graphicData>
        </a:graphic>
      </p:graphicFrame>
    </p:spTree>
    <p:extLst>
      <p:ext uri="{BB962C8B-B14F-4D97-AF65-F5344CB8AC3E}">
        <p14:creationId xmlns:p14="http://schemas.microsoft.com/office/powerpoint/2010/main" val="2543545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E9DC788-866F-D784-06AA-9221EB73C4F9}"/>
              </a:ext>
            </a:extLst>
          </p:cNvPr>
          <p:cNvGrpSpPr/>
          <p:nvPr/>
        </p:nvGrpSpPr>
        <p:grpSpPr>
          <a:xfrm>
            <a:off x="0" y="158113"/>
            <a:ext cx="2548270" cy="2681664"/>
            <a:chOff x="6667402" y="1869897"/>
            <a:chExt cx="2548270" cy="2681664"/>
          </a:xfrm>
        </p:grpSpPr>
        <p:grpSp>
          <p:nvGrpSpPr>
            <p:cNvPr id="3" name="Group 2">
              <a:extLst>
                <a:ext uri="{FF2B5EF4-FFF2-40B4-BE49-F238E27FC236}">
                  <a16:creationId xmlns:a16="http://schemas.microsoft.com/office/drawing/2014/main" id="{A6F6B7DA-A64E-1F92-F5EA-97FC472464C7}"/>
                </a:ext>
              </a:extLst>
            </p:cNvPr>
            <p:cNvGrpSpPr/>
            <p:nvPr/>
          </p:nvGrpSpPr>
          <p:grpSpPr>
            <a:xfrm>
              <a:off x="6667402" y="1869897"/>
              <a:ext cx="2548270" cy="2681664"/>
              <a:chOff x="8248449" y="2528711"/>
              <a:chExt cx="1810327" cy="2289650"/>
            </a:xfrm>
          </p:grpSpPr>
          <p:sp>
            <p:nvSpPr>
              <p:cNvPr id="4" name="Rectangle: Rounded Corners 3">
                <a:extLst>
                  <a:ext uri="{FF2B5EF4-FFF2-40B4-BE49-F238E27FC236}">
                    <a16:creationId xmlns:a16="http://schemas.microsoft.com/office/drawing/2014/main" id="{7E52D6B5-8A19-E8C4-B16B-6D05D929C244}"/>
                  </a:ext>
                </a:extLst>
              </p:cNvPr>
              <p:cNvSpPr/>
              <p:nvPr/>
            </p:nvSpPr>
            <p:spPr>
              <a:xfrm>
                <a:off x="8413288" y="2623611"/>
                <a:ext cx="1420112" cy="1202141"/>
              </a:xfrm>
              <a:prstGeom prst="roundRect">
                <a:avLst>
                  <a:gd name="adj" fmla="val 12271"/>
                </a:avLst>
              </a:prstGeom>
              <a:solidFill>
                <a:schemeClr val="bg1"/>
              </a:solidFill>
              <a:ln w="3492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BDE55A58-D8F3-A6A9-7454-C0690ECC3D52}"/>
                  </a:ext>
                </a:extLst>
              </p:cNvPr>
              <p:cNvSpPr/>
              <p:nvPr/>
            </p:nvSpPr>
            <p:spPr>
              <a:xfrm flipV="1">
                <a:off x="8967217" y="3825752"/>
                <a:ext cx="231417" cy="199498"/>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569FCC5-183F-3E75-56E5-D96C285B0B34}"/>
                  </a:ext>
                </a:extLst>
              </p:cNvPr>
              <p:cNvSpPr/>
              <p:nvPr/>
            </p:nvSpPr>
            <p:spPr>
              <a:xfrm>
                <a:off x="9623410" y="2528711"/>
                <a:ext cx="331408" cy="3314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4</a:t>
                </a:r>
                <a:endParaRPr lang="en-IN" dirty="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EDFEBE92-E097-A744-F432-BB11E0F46E3A}"/>
                  </a:ext>
                </a:extLst>
              </p:cNvPr>
              <p:cNvGrpSpPr/>
              <p:nvPr/>
            </p:nvGrpSpPr>
            <p:grpSpPr>
              <a:xfrm>
                <a:off x="8248449" y="4079697"/>
                <a:ext cx="1810327" cy="738664"/>
                <a:chOff x="1089024" y="1698770"/>
                <a:chExt cx="2035583" cy="830575"/>
              </a:xfrm>
            </p:grpSpPr>
            <p:sp>
              <p:nvSpPr>
                <p:cNvPr id="8" name="TextBox 7">
                  <a:extLst>
                    <a:ext uri="{FF2B5EF4-FFF2-40B4-BE49-F238E27FC236}">
                      <a16:creationId xmlns:a16="http://schemas.microsoft.com/office/drawing/2014/main" id="{0B9F2013-330A-AB48-32F8-15C4BDABB14E}"/>
                    </a:ext>
                  </a:extLst>
                </p:cNvPr>
                <p:cNvSpPr txBox="1"/>
                <p:nvPr/>
              </p:nvSpPr>
              <p:spPr>
                <a:xfrm>
                  <a:off x="1157093" y="2111189"/>
                  <a:ext cx="1967514" cy="272315"/>
                </a:xfrm>
                <a:prstGeom prst="rect">
                  <a:avLst/>
                </a:prstGeom>
                <a:noFill/>
              </p:spPr>
              <p:txBody>
                <a:bodyPr wrap="square" lIns="0" tIns="0" rIns="0" bIns="0" rtlCol="0">
                  <a:spAutoFit/>
                </a:bodyPr>
                <a:lstStyle/>
                <a:p>
                  <a:pPr algn="ctr"/>
                  <a:r>
                    <a:rPr lang="en-US" sz="1600" b="1" i="1" dirty="0">
                      <a:latin typeface="Arial" panose="020B0604020202020204" pitchFamily="34" charset="0"/>
                      <a:cs typeface="Arial" panose="020B0604020202020204" pitchFamily="34" charset="0"/>
                    </a:rPr>
                    <a:t>Realize solutions. </a:t>
                  </a:r>
                </a:p>
              </p:txBody>
            </p:sp>
            <p:sp>
              <p:nvSpPr>
                <p:cNvPr id="9" name="TextBox 8">
                  <a:extLst>
                    <a:ext uri="{FF2B5EF4-FFF2-40B4-BE49-F238E27FC236}">
                      <a16:creationId xmlns:a16="http://schemas.microsoft.com/office/drawing/2014/main" id="{CE025737-0B2A-A711-AAB6-0AECD339485D}"/>
                    </a:ext>
                  </a:extLst>
                </p:cNvPr>
                <p:cNvSpPr txBox="1"/>
                <p:nvPr/>
              </p:nvSpPr>
              <p:spPr>
                <a:xfrm>
                  <a:off x="1089024" y="1698770"/>
                  <a:ext cx="1967514" cy="830575"/>
                </a:xfrm>
                <a:prstGeom prst="rect">
                  <a:avLst/>
                </a:prstGeom>
                <a:noFill/>
              </p:spPr>
              <p:txBody>
                <a:bodyPr wrap="square" lIns="0" tIns="0" rIns="0" bIns="0" rtlCol="0">
                  <a:spAutoFit/>
                </a:bodyPr>
                <a:lstStyle/>
                <a:p>
                  <a:pPr algn="ctr"/>
                  <a:r>
                    <a:rPr lang="en-US" sz="2400" b="1" dirty="0">
                      <a:solidFill>
                        <a:schemeClr val="accent4"/>
                      </a:solidFill>
                      <a:latin typeface="Arial" panose="020B0604020202020204" pitchFamily="34" charset="0"/>
                      <a:cs typeface="Arial" panose="020B0604020202020204" pitchFamily="34" charset="0"/>
                    </a:rPr>
                    <a:t>PROTOTYPE</a:t>
                  </a:r>
                  <a:endParaRPr lang="en-US" sz="1400" b="1" dirty="0">
                    <a:solidFill>
                      <a:schemeClr val="accent4"/>
                    </a:solidFill>
                    <a:latin typeface="Arial" panose="020B0604020202020204" pitchFamily="34" charset="0"/>
                    <a:cs typeface="Arial" panose="020B0604020202020204" pitchFamily="34" charset="0"/>
                  </a:endParaRPr>
                </a:p>
              </p:txBody>
            </p:sp>
          </p:grpSp>
        </p:grpSp>
        <p:pic>
          <p:nvPicPr>
            <p:cNvPr id="10" name="Picture 9">
              <a:extLst>
                <a:ext uri="{FF2B5EF4-FFF2-40B4-BE49-F238E27FC236}">
                  <a16:creationId xmlns:a16="http://schemas.microsoft.com/office/drawing/2014/main" id="{D1B00944-233B-619D-B96F-755309BDEAF7}"/>
                </a:ext>
              </a:extLst>
            </p:cNvPr>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7321909" y="2000760"/>
              <a:ext cx="1324476" cy="1324476"/>
            </a:xfrm>
            <a:prstGeom prst="rect">
              <a:avLst/>
            </a:prstGeom>
          </p:spPr>
        </p:pic>
      </p:grpSp>
      <p:pic>
        <p:nvPicPr>
          <p:cNvPr id="12" name="Picture 11">
            <a:extLst>
              <a:ext uri="{FF2B5EF4-FFF2-40B4-BE49-F238E27FC236}">
                <a16:creationId xmlns:a16="http://schemas.microsoft.com/office/drawing/2014/main" id="{1B831A3B-B14E-0ED3-1D4E-2697D7DBEB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574427" y="1927968"/>
            <a:ext cx="3109453" cy="5527916"/>
          </a:xfrm>
          <a:prstGeom prst="rect">
            <a:avLst/>
          </a:prstGeom>
        </p:spPr>
      </p:pic>
      <p:pic>
        <p:nvPicPr>
          <p:cNvPr id="13" name="Picture 12">
            <a:extLst>
              <a:ext uri="{FF2B5EF4-FFF2-40B4-BE49-F238E27FC236}">
                <a16:creationId xmlns:a16="http://schemas.microsoft.com/office/drawing/2014/main" id="{ECE7AAF0-2C9B-09D6-6426-E291AAAAFE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6886" y="398099"/>
            <a:ext cx="4883355" cy="4883355"/>
          </a:xfrm>
          <a:prstGeom prst="rect">
            <a:avLst/>
          </a:prstGeom>
        </p:spPr>
      </p:pic>
    </p:spTree>
    <p:extLst>
      <p:ext uri="{BB962C8B-B14F-4D97-AF65-F5344CB8AC3E}">
        <p14:creationId xmlns:p14="http://schemas.microsoft.com/office/powerpoint/2010/main" val="2020215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Testing</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pPr marL="152396" indent="0">
              <a:buNone/>
            </a:pPr>
            <a:endParaRPr lang="en-IN" dirty="0"/>
          </a:p>
        </p:txBody>
      </p:sp>
      <p:pic>
        <p:nvPicPr>
          <p:cNvPr id="4" name="Picture 3">
            <a:extLst>
              <a:ext uri="{FF2B5EF4-FFF2-40B4-BE49-F238E27FC236}">
                <a16:creationId xmlns:a16="http://schemas.microsoft.com/office/drawing/2014/main" id="{F2B795FA-8136-45B7-B4C7-47C29EB072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032" y="1100155"/>
            <a:ext cx="4980739" cy="3735555"/>
          </a:xfrm>
          <a:prstGeom prst="rect">
            <a:avLst/>
          </a:prstGeom>
        </p:spPr>
      </p:pic>
      <p:pic>
        <p:nvPicPr>
          <p:cNvPr id="5" name="Picture 4">
            <a:extLst>
              <a:ext uri="{FF2B5EF4-FFF2-40B4-BE49-F238E27FC236}">
                <a16:creationId xmlns:a16="http://schemas.microsoft.com/office/drawing/2014/main" id="{D53237B6-AD47-4CB4-B9B7-D158D13E0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8852" y="1100156"/>
            <a:ext cx="5395800" cy="4046850"/>
          </a:xfrm>
          <a:prstGeom prst="rect">
            <a:avLst/>
          </a:prstGeom>
        </p:spPr>
      </p:pic>
    </p:spTree>
    <p:extLst>
      <p:ext uri="{BB962C8B-B14F-4D97-AF65-F5344CB8AC3E}">
        <p14:creationId xmlns:p14="http://schemas.microsoft.com/office/powerpoint/2010/main" val="4215057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879F-C856-2F22-A3EC-3401F6355AAB}"/>
              </a:ext>
            </a:extLst>
          </p:cNvPr>
          <p:cNvSpPr>
            <a:spLocks noGrp="1"/>
          </p:cNvSpPr>
          <p:nvPr>
            <p:ph type="title"/>
          </p:nvPr>
        </p:nvSpPr>
        <p:spPr/>
        <p:txBody>
          <a:bodyPr/>
          <a:lstStyle/>
          <a:p>
            <a:r>
              <a:rPr lang="en-IN" dirty="0"/>
              <a:t>Learning from course project/DTSI course</a:t>
            </a:r>
          </a:p>
        </p:txBody>
      </p:sp>
      <p:sp>
        <p:nvSpPr>
          <p:cNvPr id="3" name="Text Placeholder 2">
            <a:extLst>
              <a:ext uri="{FF2B5EF4-FFF2-40B4-BE49-F238E27FC236}">
                <a16:creationId xmlns:a16="http://schemas.microsoft.com/office/drawing/2014/main" id="{5420BD7D-3545-F2DE-D146-24B28BA6DB8E}"/>
              </a:ext>
            </a:extLst>
          </p:cNvPr>
          <p:cNvSpPr>
            <a:spLocks noGrp="1"/>
          </p:cNvSpPr>
          <p:nvPr>
            <p:ph type="body" idx="1"/>
          </p:nvPr>
        </p:nvSpPr>
        <p:spPr/>
        <p:txBody>
          <a:bodyPr/>
          <a:lstStyle/>
          <a:p>
            <a:r>
              <a:rPr lang="en-US" sz="2400" dirty="0">
                <a:solidFill>
                  <a:srgbClr val="FF0000"/>
                </a:solidFill>
              </a:rPr>
              <a:t>A complete new experience which gave us allot of knowledge and also we learnt how to interact with the public </a:t>
            </a:r>
          </a:p>
          <a:p>
            <a:r>
              <a:rPr lang="en-US" sz="2400" dirty="0">
                <a:solidFill>
                  <a:srgbClr val="FF0000"/>
                </a:solidFill>
              </a:rPr>
              <a:t>We learnt the process of converting an idea into a final output systematically which was a very long process .</a:t>
            </a:r>
          </a:p>
          <a:p>
            <a:r>
              <a:rPr lang="en-US" sz="2400" dirty="0">
                <a:solidFill>
                  <a:srgbClr val="FF0000"/>
                </a:solidFill>
              </a:rPr>
              <a:t>We learnt how to find solution for a particular idea and most importantly every other person has a different opinion and solution which is unique in its own way .</a:t>
            </a:r>
          </a:p>
          <a:p>
            <a:r>
              <a:rPr lang="en-US" sz="2400" dirty="0">
                <a:solidFill>
                  <a:srgbClr val="FF0000"/>
                </a:solidFill>
              </a:rPr>
              <a:t>Stakeholders are the key to whatever the idea we have generated so that we have to take the outcomes from them after every step of our process for a better solution.</a:t>
            </a:r>
          </a:p>
          <a:p>
            <a:r>
              <a:rPr lang="en-US" sz="2400" dirty="0">
                <a:solidFill>
                  <a:srgbClr val="FF0000"/>
                </a:solidFill>
              </a:rPr>
              <a:t>We also learnt about the importance of a team and people working in it .</a:t>
            </a:r>
          </a:p>
          <a:p>
            <a:r>
              <a:rPr lang="en-US" sz="2400" dirty="0">
                <a:solidFill>
                  <a:srgbClr val="FF0000"/>
                </a:solidFill>
              </a:rPr>
              <a:t>We enjoyed the thought process of this whole journey and got to know how to further       identify the solutions for any given challenge .</a:t>
            </a:r>
          </a:p>
          <a:p>
            <a:pPr marL="152396" indent="0">
              <a:buNone/>
            </a:pPr>
            <a:endParaRPr lang="en-IN" dirty="0"/>
          </a:p>
        </p:txBody>
      </p:sp>
    </p:spTree>
    <p:extLst>
      <p:ext uri="{BB962C8B-B14F-4D97-AF65-F5344CB8AC3E}">
        <p14:creationId xmlns:p14="http://schemas.microsoft.com/office/powerpoint/2010/main" val="1289555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F7F45-F58A-02A1-45D7-2BDFD7970828}"/>
              </a:ext>
            </a:extLst>
          </p:cNvPr>
          <p:cNvSpPr>
            <a:spLocks noGrp="1"/>
          </p:cNvSpPr>
          <p:nvPr>
            <p:ph type="ctrTitle"/>
          </p:nvPr>
        </p:nvSpPr>
        <p:spPr>
          <a:xfrm>
            <a:off x="1447800" y="2474365"/>
            <a:ext cx="6235600" cy="1546400"/>
          </a:xfrm>
        </p:spPr>
        <p:txBody>
          <a:bodyPr/>
          <a:lstStyle/>
          <a:p>
            <a:r>
              <a:rPr lang="en-IN" sz="7200" dirty="0">
                <a:latin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3405263129"/>
      </p:ext>
    </p:extLst>
  </p:cSld>
  <p:clrMapOvr>
    <a:masterClrMapping/>
  </p:clrMapOvr>
</p:sld>
</file>

<file path=ppt/theme/theme1.xml><?xml version="1.0" encoding="utf-8"?>
<a:theme xmlns:a="http://schemas.openxmlformats.org/drawingml/2006/main" name="Theme2">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AFC2EF69-EE34-4669-8D21-F9EE91C92697}" vid="{FEE8887E-D476-4C09-9786-7057504C51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663</TotalTime>
  <Words>742</Words>
  <Application>Microsoft Office PowerPoint</Application>
  <PresentationFormat>Widescreen</PresentationFormat>
  <Paragraphs>107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Barlow Light</vt:lpstr>
      <vt:lpstr>Calibri</vt:lpstr>
      <vt:lpstr>docs-Calibri</vt:lpstr>
      <vt:lpstr>Raleway Thin</vt:lpstr>
      <vt:lpstr>Theme2</vt:lpstr>
      <vt:lpstr>PEAK HOUR RUSH Design Thinking for Social Innovation Course Project</vt:lpstr>
      <vt:lpstr>Empathy</vt:lpstr>
      <vt:lpstr>PowerPoint Presentation</vt:lpstr>
      <vt:lpstr>Define</vt:lpstr>
      <vt:lpstr>PowerPoint Presentation</vt:lpstr>
      <vt:lpstr>Ideate</vt:lpstr>
      <vt:lpstr>Ideate</vt:lpstr>
      <vt:lpstr>IDEA FILTERING</vt:lpstr>
      <vt:lpstr>IDEA EVALUATION</vt:lpstr>
      <vt:lpstr>Prototype Specification</vt:lpstr>
      <vt:lpstr>PowerPoint Presentation</vt:lpstr>
      <vt:lpstr>Testing</vt:lpstr>
      <vt:lpstr>Learning from course project/DTSI course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of your wish Design Thinking for Social Innovation Course Project</dc:title>
  <dc:creator>Unnati Koppikar</dc:creator>
  <cp:lastModifiedBy>Harsh</cp:lastModifiedBy>
  <cp:revision>11</cp:revision>
  <dcterms:created xsi:type="dcterms:W3CDTF">2023-02-15T08:42:32Z</dcterms:created>
  <dcterms:modified xsi:type="dcterms:W3CDTF">2023-03-16T07:53:55Z</dcterms:modified>
</cp:coreProperties>
</file>